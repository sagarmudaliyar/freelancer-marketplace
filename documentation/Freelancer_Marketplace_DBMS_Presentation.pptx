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Oval 1"/>
          <p:cNvSpPr/>
          <p:nvPr/>
        </p:nvSpPr>
        <p:spPr>
          <a:xfrm>
            <a:off x="8961120" y="594360"/>
            <a:ext cx="2103120" cy="2103120"/>
          </a:xfrm>
          <a:prstGeom prst="ellipse">
            <a:avLst/>
          </a:prstGeom>
          <a:solidFill>
            <a:srgbClr val="17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29800" y="1508760"/>
            <a:ext cx="960120" cy="960120"/>
          </a:xfrm>
          <a:prstGeom prst="ellipse">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789920" y="594360"/>
            <a:ext cx="384048" cy="384048"/>
          </a:xfrm>
          <a:prstGeom prst="ellipse">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955279" y="2926080"/>
            <a:ext cx="3429000" cy="196596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75320" y="3246120"/>
            <a:ext cx="2834640" cy="457200"/>
          </a:xfrm>
          <a:prstGeom prst="rect">
            <a:avLst/>
          </a:prstGeom>
          <a:noFill/>
        </p:spPr>
        <p:txBody>
          <a:bodyPr wrap="square" lIns="36576" tIns="36576" rIns="36576" bIns="36576" anchor="t">
            <a:spAutoFit/>
          </a:bodyPr>
          <a:lstStyle/>
          <a:p>
            <a:pPr algn="ctr">
              <a:spcAft>
                <a:spcPts val="0"/>
              </a:spcAft>
            </a:pPr>
            <a:r>
              <a:rPr sz="2300" b="1">
                <a:solidFill>
                  <a:srgbClr val="F7FAFD"/>
                </a:solidFill>
                <a:latin typeface="Aptos"/>
              </a:rPr>
              <a:t>FREELANCER</a:t>
            </a:r>
          </a:p>
        </p:txBody>
      </p:sp>
      <p:sp>
        <p:nvSpPr>
          <p:cNvPr id="7" name="TextBox 6"/>
          <p:cNvSpPr txBox="1"/>
          <p:nvPr/>
        </p:nvSpPr>
        <p:spPr>
          <a:xfrm>
            <a:off x="8275320" y="3703320"/>
            <a:ext cx="2834640" cy="457200"/>
          </a:xfrm>
          <a:prstGeom prst="rect">
            <a:avLst/>
          </a:prstGeom>
          <a:noFill/>
        </p:spPr>
        <p:txBody>
          <a:bodyPr wrap="square" lIns="36576" tIns="36576" rIns="36576" bIns="36576" anchor="t">
            <a:spAutoFit/>
          </a:bodyPr>
          <a:lstStyle/>
          <a:p>
            <a:pPr algn="ctr">
              <a:spcAft>
                <a:spcPts val="0"/>
              </a:spcAft>
            </a:pPr>
            <a:r>
              <a:rPr sz="2300" b="1">
                <a:solidFill>
                  <a:srgbClr val="27BEAE"/>
                </a:solidFill>
                <a:latin typeface="Aptos"/>
              </a:rPr>
              <a:t>MARKETPLACE</a:t>
            </a:r>
          </a:p>
        </p:txBody>
      </p:sp>
      <p:sp>
        <p:nvSpPr>
          <p:cNvPr id="8" name="TextBox 7"/>
          <p:cNvSpPr txBox="1"/>
          <p:nvPr/>
        </p:nvSpPr>
        <p:spPr>
          <a:xfrm>
            <a:off x="731520" y="685800"/>
            <a:ext cx="6217920" cy="320040"/>
          </a:xfrm>
          <a:prstGeom prst="rect">
            <a:avLst/>
          </a:prstGeom>
          <a:noFill/>
        </p:spPr>
        <p:txBody>
          <a:bodyPr wrap="square" lIns="36576" tIns="36576" rIns="36576" bIns="36576" anchor="t">
            <a:spAutoFit/>
          </a:bodyPr>
          <a:lstStyle/>
          <a:p>
            <a:pPr algn="l">
              <a:spcAft>
                <a:spcPts val="0"/>
              </a:spcAft>
            </a:pPr>
            <a:r>
              <a:rPr sz="1300" b="1">
                <a:solidFill>
                  <a:srgbClr val="27BEAE"/>
                </a:solidFill>
                <a:latin typeface="Aptos"/>
              </a:rPr>
              <a:t>DBMS MINI PROJECT</a:t>
            </a:r>
          </a:p>
        </p:txBody>
      </p:sp>
      <p:sp>
        <p:nvSpPr>
          <p:cNvPr id="9" name="TextBox 8"/>
          <p:cNvSpPr txBox="1"/>
          <p:nvPr/>
        </p:nvSpPr>
        <p:spPr>
          <a:xfrm>
            <a:off x="731520" y="1298448"/>
            <a:ext cx="6492240" cy="1508760"/>
          </a:xfrm>
          <a:prstGeom prst="rect">
            <a:avLst/>
          </a:prstGeom>
          <a:noFill/>
        </p:spPr>
        <p:txBody>
          <a:bodyPr wrap="square" lIns="36576" tIns="36576" rIns="36576" bIns="36576" anchor="t">
            <a:spAutoFit/>
          </a:bodyPr>
          <a:lstStyle/>
          <a:p>
            <a:pPr algn="l">
              <a:spcAft>
                <a:spcPts val="0"/>
              </a:spcAft>
            </a:pPr>
            <a:r>
              <a:rPr sz="3600" b="1">
                <a:solidFill>
                  <a:srgbClr val="F7FAFD"/>
                </a:solidFill>
                <a:latin typeface="Aptos"/>
              </a:rPr>
              <a:t>Freelancer\nMarketplace</a:t>
            </a:r>
          </a:p>
        </p:txBody>
      </p:sp>
      <p:sp>
        <p:nvSpPr>
          <p:cNvPr id="10" name="TextBox 9"/>
          <p:cNvSpPr txBox="1"/>
          <p:nvPr/>
        </p:nvSpPr>
        <p:spPr>
          <a:xfrm>
            <a:off x="777240" y="3127248"/>
            <a:ext cx="5943600" cy="731520"/>
          </a:xfrm>
          <a:prstGeom prst="rect">
            <a:avLst/>
          </a:prstGeom>
          <a:noFill/>
        </p:spPr>
        <p:txBody>
          <a:bodyPr wrap="square" lIns="36576" tIns="36576" rIns="36576" bIns="36576" anchor="t">
            <a:spAutoFit/>
          </a:bodyPr>
          <a:lstStyle/>
          <a:p>
            <a:pPr algn="l">
              <a:spcAft>
                <a:spcPts val="0"/>
              </a:spcAft>
            </a:pPr>
            <a:r>
              <a:rPr sz="1800" b="0">
                <a:solidFill>
                  <a:srgbClr val="B1BFD0"/>
                </a:solidFill>
                <a:latin typeface="Aptos"/>
              </a:rPr>
              <a:t>A database-driven platform concept for connecting clients with skilled freelancers.</a:t>
            </a:r>
          </a:p>
        </p:txBody>
      </p:sp>
      <p:sp>
        <p:nvSpPr>
          <p:cNvPr id="11" name="Rectangle 10"/>
          <p:cNvSpPr/>
          <p:nvPr/>
        </p:nvSpPr>
        <p:spPr>
          <a:xfrm>
            <a:off x="777240" y="4251960"/>
            <a:ext cx="1234440" cy="64008"/>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4617720"/>
            <a:ext cx="5394960" cy="292608"/>
          </a:xfrm>
          <a:prstGeom prst="rect">
            <a:avLst/>
          </a:prstGeom>
          <a:noFill/>
        </p:spPr>
        <p:txBody>
          <a:bodyPr wrap="square" lIns="36576" tIns="36576" rIns="36576" bIns="36576" anchor="t">
            <a:spAutoFit/>
          </a:bodyPr>
          <a:lstStyle/>
          <a:p>
            <a:pPr algn="l">
              <a:spcAft>
                <a:spcPts val="0"/>
              </a:spcAft>
            </a:pPr>
            <a:r>
              <a:rPr sz="1000" b="1">
                <a:solidFill>
                  <a:srgbClr val="27BEAE"/>
                </a:solidFill>
                <a:latin typeface="Aptos"/>
              </a:rPr>
              <a:t>PRESENTED BY</a:t>
            </a:r>
          </a:p>
        </p:txBody>
      </p:sp>
      <p:sp>
        <p:nvSpPr>
          <p:cNvPr id="13" name="TextBox 12"/>
          <p:cNvSpPr txBox="1"/>
          <p:nvPr/>
        </p:nvSpPr>
        <p:spPr>
          <a:xfrm>
            <a:off x="777240" y="4956048"/>
            <a:ext cx="5486400" cy="997196"/>
          </a:xfrm>
          <a:prstGeom prst="rect">
            <a:avLst/>
          </a:prstGeom>
          <a:noFill/>
        </p:spPr>
        <p:txBody>
          <a:bodyPr wrap="square" lIns="36576" tIns="36576" rIns="36576" bIns="36576" anchor="t">
            <a:spAutoFit/>
          </a:bodyPr>
          <a:lstStyle/>
          <a:p>
            <a:pPr algn="l">
              <a:spcAft>
                <a:spcPts val="0"/>
              </a:spcAft>
            </a:pPr>
            <a:r>
              <a:rPr lang="en-IN" sz="1500" b="1" dirty="0">
                <a:solidFill>
                  <a:srgbClr val="F7FAFD"/>
                </a:solidFill>
                <a:latin typeface="Aptos"/>
              </a:rPr>
              <a:t>Abhishek Raja-125A9028</a:t>
            </a:r>
          </a:p>
          <a:p>
            <a:pPr algn="l">
              <a:spcAft>
                <a:spcPts val="0"/>
              </a:spcAft>
            </a:pPr>
            <a:r>
              <a:rPr lang="en-IN" sz="1500" b="1" dirty="0" err="1">
                <a:solidFill>
                  <a:srgbClr val="F7FAFD"/>
                </a:solidFill>
                <a:latin typeface="Aptos"/>
              </a:rPr>
              <a:t>Aravind</a:t>
            </a:r>
            <a:r>
              <a:rPr lang="en-IN" sz="1500" b="1" dirty="0">
                <a:solidFill>
                  <a:srgbClr val="F7FAFD"/>
                </a:solidFill>
                <a:latin typeface="Aptos"/>
              </a:rPr>
              <a:t> </a:t>
            </a:r>
            <a:r>
              <a:rPr lang="en-IN" sz="1500" b="1" dirty="0" err="1">
                <a:solidFill>
                  <a:srgbClr val="F7FAFD"/>
                </a:solidFill>
                <a:latin typeface="Aptos"/>
              </a:rPr>
              <a:t>Nadar</a:t>
            </a:r>
            <a:r>
              <a:rPr lang="en-IN" sz="1500" b="1" dirty="0">
                <a:solidFill>
                  <a:srgbClr val="F7FAFD"/>
                </a:solidFill>
                <a:latin typeface="Aptos"/>
              </a:rPr>
              <a:t> – 125A9029</a:t>
            </a:r>
          </a:p>
          <a:p>
            <a:pPr algn="l">
              <a:spcAft>
                <a:spcPts val="0"/>
              </a:spcAft>
            </a:pPr>
            <a:r>
              <a:rPr lang="en-IN" sz="1500" b="1" dirty="0">
                <a:solidFill>
                  <a:srgbClr val="F7FAFD"/>
                </a:solidFill>
                <a:latin typeface="Aptos"/>
              </a:rPr>
              <a:t>Manish </a:t>
            </a:r>
            <a:r>
              <a:rPr lang="en-IN" sz="1500" b="1" dirty="0" err="1">
                <a:solidFill>
                  <a:srgbClr val="F7FAFD"/>
                </a:solidFill>
                <a:latin typeface="Aptos"/>
              </a:rPr>
              <a:t>Nadar</a:t>
            </a:r>
            <a:r>
              <a:rPr lang="en-IN" sz="1500" b="1" dirty="0">
                <a:solidFill>
                  <a:srgbClr val="F7FAFD"/>
                </a:solidFill>
                <a:latin typeface="Aptos"/>
              </a:rPr>
              <a:t> – 125A9031</a:t>
            </a:r>
          </a:p>
          <a:p>
            <a:pPr algn="l">
              <a:spcAft>
                <a:spcPts val="0"/>
              </a:spcAft>
            </a:pPr>
            <a:r>
              <a:rPr lang="en-IN" sz="1500" b="1" dirty="0" err="1">
                <a:solidFill>
                  <a:srgbClr val="F7FAFD"/>
                </a:solidFill>
                <a:latin typeface="Aptos"/>
              </a:rPr>
              <a:t>Murlidharan</a:t>
            </a:r>
            <a:r>
              <a:rPr lang="en-IN" sz="1500" b="1" dirty="0">
                <a:solidFill>
                  <a:srgbClr val="F7FAFD"/>
                </a:solidFill>
                <a:latin typeface="Aptos"/>
              </a:rPr>
              <a:t> Naidu – 125A9033</a:t>
            </a:r>
            <a:endParaRPr sz="1500" b="1" dirty="0">
              <a:solidFill>
                <a:srgbClr val="F7FAFD"/>
              </a:solidFill>
              <a:latin typeface="Aptos"/>
            </a:endParaRPr>
          </a:p>
        </p:txBody>
      </p:sp>
      <p:sp>
        <p:nvSpPr>
          <p:cNvPr id="14" name="TextBox 13"/>
          <p:cNvSpPr txBox="1"/>
          <p:nvPr/>
        </p:nvSpPr>
        <p:spPr>
          <a:xfrm>
            <a:off x="777240" y="6172200"/>
            <a:ext cx="5669280" cy="228600"/>
          </a:xfrm>
          <a:prstGeom prst="rect">
            <a:avLst/>
          </a:prstGeom>
          <a:noFill/>
        </p:spPr>
        <p:txBody>
          <a:bodyPr wrap="square" lIns="36576" tIns="36576" rIns="36576" bIns="36576" anchor="t">
            <a:spAutoFit/>
          </a:bodyPr>
          <a:lstStyle/>
          <a:p>
            <a:pPr algn="l">
              <a:spcAft>
                <a:spcPts val="0"/>
              </a:spcAft>
            </a:pPr>
            <a:r>
              <a:rPr sz="1000" b="0">
                <a:solidFill>
                  <a:srgbClr val="B1BFD0"/>
                </a:solidFill>
                <a:latin typeface="Aptos"/>
              </a:rPr>
              <a:t>PostgreSQL  |  SQL  |  Web Interface</a:t>
            </a:r>
          </a:p>
        </p:txBody>
      </p:sp>
      <p:sp>
        <p:nvSpPr>
          <p:cNvPr id="15" name="TextBox 14"/>
          <p:cNvSpPr txBox="1"/>
          <p:nvPr/>
        </p:nvSpPr>
        <p:spPr>
          <a:xfrm>
            <a:off x="10972800" y="6446520"/>
            <a:ext cx="640080" cy="182880"/>
          </a:xfrm>
          <a:prstGeom prst="rect">
            <a:avLst/>
          </a:prstGeom>
          <a:noFill/>
        </p:spPr>
        <p:txBody>
          <a:bodyPr wrap="square" lIns="36576" tIns="36576" rIns="36576" bIns="36576" anchor="t">
            <a:spAutoFit/>
          </a:bodyPr>
          <a:lstStyle/>
          <a:p>
            <a:pPr algn="r">
              <a:spcAft>
                <a:spcPts val="0"/>
              </a:spcAft>
            </a:pPr>
            <a:r>
              <a:rPr sz="900" b="1">
                <a:solidFill>
                  <a:srgbClr val="B1BFD0"/>
                </a:solidFill>
                <a:latin typeface="Aptos"/>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7772400" cy="256032"/>
          </a:xfrm>
          <a:prstGeom prst="rect">
            <a:avLst/>
          </a:prstGeom>
          <a:noFill/>
        </p:spPr>
        <p:txBody>
          <a:bodyPr wrap="square" lIns="36576" tIns="36576" rIns="36576" bIns="36576" anchor="t">
            <a:spAutoFit/>
          </a:bodyPr>
          <a:lstStyle/>
          <a:p>
            <a:pPr algn="l">
              <a:spcAft>
                <a:spcPts val="0"/>
              </a:spcAft>
            </a:pPr>
            <a:r>
              <a:rPr sz="1000" b="1">
                <a:solidFill>
                  <a:srgbClr val="27BEAE"/>
                </a:solidFill>
                <a:latin typeface="Aptos"/>
              </a:rPr>
              <a:t>01 • INTRODUCTION</a:t>
            </a:r>
          </a:p>
        </p:txBody>
      </p:sp>
      <p:sp>
        <p:nvSpPr>
          <p:cNvPr id="3" name="TextBox 2"/>
          <p:cNvSpPr txBox="1"/>
          <p:nvPr/>
        </p:nvSpPr>
        <p:spPr>
          <a:xfrm>
            <a:off x="594360" y="594360"/>
            <a:ext cx="9875520" cy="502920"/>
          </a:xfrm>
          <a:prstGeom prst="rect">
            <a:avLst/>
          </a:prstGeom>
          <a:noFill/>
        </p:spPr>
        <p:txBody>
          <a:bodyPr wrap="square" lIns="36576" tIns="36576" rIns="36576" bIns="36576" anchor="t">
            <a:spAutoFit/>
          </a:bodyPr>
          <a:lstStyle/>
          <a:p>
            <a:pPr algn="l">
              <a:spcAft>
                <a:spcPts val="0"/>
              </a:spcAft>
            </a:pPr>
            <a:r>
              <a:rPr sz="2800" b="1">
                <a:solidFill>
                  <a:srgbClr val="F7FAFD"/>
                </a:solidFill>
                <a:latin typeface="Aptos"/>
              </a:rPr>
              <a:t>Problem Statement</a:t>
            </a:r>
          </a:p>
        </p:txBody>
      </p:sp>
      <p:sp>
        <p:nvSpPr>
          <p:cNvPr id="4" name="TextBox 3"/>
          <p:cNvSpPr txBox="1"/>
          <p:nvPr/>
        </p:nvSpPr>
        <p:spPr>
          <a:xfrm>
            <a:off x="10972800" y="320040"/>
            <a:ext cx="640080" cy="320040"/>
          </a:xfrm>
          <a:prstGeom prst="rect">
            <a:avLst/>
          </a:prstGeom>
          <a:noFill/>
        </p:spPr>
        <p:txBody>
          <a:bodyPr wrap="square" lIns="36576" tIns="36576" rIns="36576" bIns="36576" anchor="t">
            <a:spAutoFit/>
          </a:bodyPr>
          <a:lstStyle/>
          <a:p>
            <a:pPr algn="r">
              <a:spcAft>
                <a:spcPts val="0"/>
              </a:spcAft>
            </a:pPr>
            <a:r>
              <a:rPr sz="1300" b="1">
                <a:solidFill>
                  <a:srgbClr val="B1BFD0"/>
                </a:solidFill>
                <a:latin typeface="Aptos"/>
              </a:rPr>
              <a:t>02</a:t>
            </a:r>
          </a:p>
        </p:txBody>
      </p:sp>
      <p:sp>
        <p:nvSpPr>
          <p:cNvPr id="5" name="Rectangle 4"/>
          <p:cNvSpPr/>
          <p:nvPr/>
        </p:nvSpPr>
        <p:spPr>
          <a:xfrm>
            <a:off x="594360" y="1234440"/>
            <a:ext cx="594360" cy="50292"/>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9672"/>
            <a:ext cx="7772400" cy="164592"/>
          </a:xfrm>
          <a:prstGeom prst="rect">
            <a:avLst/>
          </a:prstGeom>
          <a:noFill/>
        </p:spPr>
        <p:txBody>
          <a:bodyPr wrap="square" lIns="36576" tIns="36576" rIns="36576" bIns="36576" anchor="t">
            <a:spAutoFit/>
          </a:bodyPr>
          <a:lstStyle/>
          <a:p>
            <a:pPr algn="l">
              <a:spcAft>
                <a:spcPts val="0"/>
              </a:spcAft>
            </a:pPr>
            <a:r>
              <a:rPr sz="800" b="1">
                <a:solidFill>
                  <a:srgbClr val="B1BFD0"/>
                </a:solidFill>
                <a:latin typeface="Aptos"/>
              </a:rPr>
              <a:t>FREELANCER MARKETPLACE  •  DBMS MINI PROJECT</a:t>
            </a:r>
          </a:p>
        </p:txBody>
      </p:sp>
      <p:sp>
        <p:nvSpPr>
          <p:cNvPr id="7" name="TextBox 6"/>
          <p:cNvSpPr txBox="1"/>
          <p:nvPr/>
        </p:nvSpPr>
        <p:spPr>
          <a:xfrm>
            <a:off x="822960" y="1645920"/>
            <a:ext cx="6400800" cy="2240280"/>
          </a:xfrm>
          <a:prstGeom prst="rect">
            <a:avLst/>
          </a:prstGeom>
          <a:noFill/>
        </p:spPr>
        <p:txBody>
          <a:bodyPr wrap="square" lIns="36576" tIns="36576" rIns="36576" bIns="36576" anchor="t">
            <a:spAutoFit/>
          </a:bodyPr>
          <a:lstStyle/>
          <a:p>
            <a:pPr algn="l">
              <a:spcAft>
                <a:spcPts val="0"/>
              </a:spcAft>
            </a:pPr>
            <a:r>
              <a:rPr sz="2000" b="0">
                <a:solidFill>
                  <a:srgbClr val="F7FAFD"/>
                </a:solidFill>
                <a:latin typeface="Aptos"/>
              </a:rPr>
              <a:t>Finding suitable freelancers and managing projects, bids, skills, payments and reviews can become difficult when information is scattered across messages or spreadsheets. A centralized relational database helps organize records, connect related data and reduce duplication.</a:t>
            </a:r>
          </a:p>
        </p:txBody>
      </p:sp>
      <p:sp>
        <p:nvSpPr>
          <p:cNvPr id="8" name="TextBox 7"/>
          <p:cNvSpPr txBox="1"/>
          <p:nvPr/>
        </p:nvSpPr>
        <p:spPr>
          <a:xfrm>
            <a:off x="822960" y="4160520"/>
            <a:ext cx="6217920" cy="914400"/>
          </a:xfrm>
          <a:prstGeom prst="rect">
            <a:avLst/>
          </a:prstGeom>
          <a:noFill/>
        </p:spPr>
        <p:txBody>
          <a:bodyPr wrap="square" lIns="36576" tIns="36576" rIns="36576" bIns="36576" anchor="t">
            <a:spAutoFit/>
          </a:bodyPr>
          <a:lstStyle/>
          <a:p>
            <a:pPr algn="l">
              <a:spcAft>
                <a:spcPts val="0"/>
              </a:spcAft>
            </a:pPr>
            <a:r>
              <a:rPr sz="1500" b="1">
                <a:solidFill>
                  <a:srgbClr val="27BEAE"/>
                </a:solidFill>
                <a:latin typeface="Aptos"/>
              </a:rPr>
              <a:t>The project demonstrates how DBMS concepts support a structured marketplace workflow.</a:t>
            </a:r>
          </a:p>
        </p:txBody>
      </p:sp>
      <p:sp>
        <p:nvSpPr>
          <p:cNvPr id="9" name="Rounded Rectangle 8"/>
          <p:cNvSpPr/>
          <p:nvPr/>
        </p:nvSpPr>
        <p:spPr>
          <a:xfrm>
            <a:off x="7635240" y="1645920"/>
            <a:ext cx="3749039" cy="109728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635240" y="1645920"/>
            <a:ext cx="64008" cy="1097280"/>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36408" y="1810512"/>
            <a:ext cx="3364991"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SCATTERED RECORDS</a:t>
            </a:r>
          </a:p>
        </p:txBody>
      </p:sp>
      <p:sp>
        <p:nvSpPr>
          <p:cNvPr id="12" name="TextBox 11"/>
          <p:cNvSpPr txBox="1"/>
          <p:nvPr/>
        </p:nvSpPr>
        <p:spPr>
          <a:xfrm>
            <a:off x="7836408" y="2267712"/>
            <a:ext cx="3364991" cy="34747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Project and user details can be difficult to track.</a:t>
            </a:r>
          </a:p>
        </p:txBody>
      </p:sp>
      <p:sp>
        <p:nvSpPr>
          <p:cNvPr id="13" name="Rounded Rectangle 12"/>
          <p:cNvSpPr/>
          <p:nvPr/>
        </p:nvSpPr>
        <p:spPr>
          <a:xfrm>
            <a:off x="7635240" y="2971800"/>
            <a:ext cx="3749039" cy="109728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35240" y="2971800"/>
            <a:ext cx="64008" cy="1097280"/>
          </a:xfrm>
          <a:prstGeom prst="rect">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36408" y="3136392"/>
            <a:ext cx="3364991"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UNCLEAR RELATIONSHIPS</a:t>
            </a:r>
          </a:p>
        </p:txBody>
      </p:sp>
      <p:sp>
        <p:nvSpPr>
          <p:cNvPr id="16" name="TextBox 15"/>
          <p:cNvSpPr txBox="1"/>
          <p:nvPr/>
        </p:nvSpPr>
        <p:spPr>
          <a:xfrm>
            <a:off x="7836408" y="3593592"/>
            <a:ext cx="3364991" cy="34747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Clients, freelancers and projects need linked records.</a:t>
            </a:r>
          </a:p>
        </p:txBody>
      </p:sp>
      <p:sp>
        <p:nvSpPr>
          <p:cNvPr id="17" name="Rounded Rectangle 16"/>
          <p:cNvSpPr/>
          <p:nvPr/>
        </p:nvSpPr>
        <p:spPr>
          <a:xfrm>
            <a:off x="7635240" y="4297680"/>
            <a:ext cx="3749039" cy="109728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35240" y="4297680"/>
            <a:ext cx="64008" cy="1097280"/>
          </a:xfrm>
          <a:prstGeom prst="rect">
            <a:avLst/>
          </a:prstGeom>
          <a:solidFill>
            <a:srgbClr val="A2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36408" y="4462272"/>
            <a:ext cx="3364991"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DATA CONSISTENCY</a:t>
            </a:r>
          </a:p>
        </p:txBody>
      </p:sp>
      <p:sp>
        <p:nvSpPr>
          <p:cNvPr id="20" name="TextBox 19"/>
          <p:cNvSpPr txBox="1"/>
          <p:nvPr/>
        </p:nvSpPr>
        <p:spPr>
          <a:xfrm>
            <a:off x="7836408" y="4919472"/>
            <a:ext cx="3364991" cy="34747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Constraints and keys help maintain reliable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7772400" cy="256032"/>
          </a:xfrm>
          <a:prstGeom prst="rect">
            <a:avLst/>
          </a:prstGeom>
          <a:noFill/>
        </p:spPr>
        <p:txBody>
          <a:bodyPr wrap="square" lIns="36576" tIns="36576" rIns="36576" bIns="36576" anchor="t">
            <a:spAutoFit/>
          </a:bodyPr>
          <a:lstStyle/>
          <a:p>
            <a:pPr algn="l">
              <a:spcAft>
                <a:spcPts val="0"/>
              </a:spcAft>
            </a:pPr>
            <a:r>
              <a:rPr sz="1000" b="1">
                <a:solidFill>
                  <a:srgbClr val="27BEAE"/>
                </a:solidFill>
                <a:latin typeface="Aptos"/>
              </a:rPr>
              <a:t>02 • GOALS</a:t>
            </a:r>
          </a:p>
        </p:txBody>
      </p:sp>
      <p:sp>
        <p:nvSpPr>
          <p:cNvPr id="3" name="TextBox 2"/>
          <p:cNvSpPr txBox="1"/>
          <p:nvPr/>
        </p:nvSpPr>
        <p:spPr>
          <a:xfrm>
            <a:off x="594360" y="594360"/>
            <a:ext cx="9875520" cy="502920"/>
          </a:xfrm>
          <a:prstGeom prst="rect">
            <a:avLst/>
          </a:prstGeom>
          <a:noFill/>
        </p:spPr>
        <p:txBody>
          <a:bodyPr wrap="square" lIns="36576" tIns="36576" rIns="36576" bIns="36576" anchor="t">
            <a:spAutoFit/>
          </a:bodyPr>
          <a:lstStyle/>
          <a:p>
            <a:pPr algn="l">
              <a:spcAft>
                <a:spcPts val="0"/>
              </a:spcAft>
            </a:pPr>
            <a:r>
              <a:rPr sz="2800" b="1">
                <a:solidFill>
                  <a:srgbClr val="F7FAFD"/>
                </a:solidFill>
                <a:latin typeface="Aptos"/>
              </a:rPr>
              <a:t>Project Objectives</a:t>
            </a:r>
          </a:p>
        </p:txBody>
      </p:sp>
      <p:sp>
        <p:nvSpPr>
          <p:cNvPr id="4" name="TextBox 3"/>
          <p:cNvSpPr txBox="1"/>
          <p:nvPr/>
        </p:nvSpPr>
        <p:spPr>
          <a:xfrm>
            <a:off x="10972800" y="320040"/>
            <a:ext cx="640080" cy="320040"/>
          </a:xfrm>
          <a:prstGeom prst="rect">
            <a:avLst/>
          </a:prstGeom>
          <a:noFill/>
        </p:spPr>
        <p:txBody>
          <a:bodyPr wrap="square" lIns="36576" tIns="36576" rIns="36576" bIns="36576" anchor="t">
            <a:spAutoFit/>
          </a:bodyPr>
          <a:lstStyle/>
          <a:p>
            <a:pPr algn="r">
              <a:spcAft>
                <a:spcPts val="0"/>
              </a:spcAft>
            </a:pPr>
            <a:r>
              <a:rPr sz="1300" b="1">
                <a:solidFill>
                  <a:srgbClr val="B1BFD0"/>
                </a:solidFill>
                <a:latin typeface="Aptos"/>
              </a:rPr>
              <a:t>03</a:t>
            </a:r>
          </a:p>
        </p:txBody>
      </p:sp>
      <p:sp>
        <p:nvSpPr>
          <p:cNvPr id="5" name="Rectangle 4"/>
          <p:cNvSpPr/>
          <p:nvPr/>
        </p:nvSpPr>
        <p:spPr>
          <a:xfrm>
            <a:off x="594360" y="1234440"/>
            <a:ext cx="594360" cy="50292"/>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9672"/>
            <a:ext cx="7772400" cy="164592"/>
          </a:xfrm>
          <a:prstGeom prst="rect">
            <a:avLst/>
          </a:prstGeom>
          <a:noFill/>
        </p:spPr>
        <p:txBody>
          <a:bodyPr wrap="square" lIns="36576" tIns="36576" rIns="36576" bIns="36576" anchor="t">
            <a:spAutoFit/>
          </a:bodyPr>
          <a:lstStyle/>
          <a:p>
            <a:pPr algn="l">
              <a:spcAft>
                <a:spcPts val="0"/>
              </a:spcAft>
            </a:pPr>
            <a:r>
              <a:rPr sz="800" b="1">
                <a:solidFill>
                  <a:srgbClr val="B1BFD0"/>
                </a:solidFill>
                <a:latin typeface="Aptos"/>
              </a:rPr>
              <a:t>FREELANCER MARKETPLACE  •  DBMS MINI PROJECT</a:t>
            </a:r>
          </a:p>
        </p:txBody>
      </p:sp>
      <p:sp>
        <p:nvSpPr>
          <p:cNvPr id="7" name="Rounded Rectangle 6"/>
          <p:cNvSpPr/>
          <p:nvPr/>
        </p:nvSpPr>
        <p:spPr>
          <a:xfrm>
            <a:off x="685800" y="1600200"/>
            <a:ext cx="3474720" cy="16459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764792"/>
            <a:ext cx="594360" cy="384048"/>
          </a:xfrm>
          <a:prstGeom prst="rect">
            <a:avLst/>
          </a:prstGeom>
          <a:noFill/>
        </p:spPr>
        <p:txBody>
          <a:bodyPr wrap="square" lIns="36576" tIns="36576" rIns="36576" bIns="36576" anchor="t">
            <a:spAutoFit/>
          </a:bodyPr>
          <a:lstStyle/>
          <a:p>
            <a:pPr algn="l">
              <a:spcAft>
                <a:spcPts val="0"/>
              </a:spcAft>
            </a:pPr>
            <a:r>
              <a:rPr sz="2000" b="1">
                <a:solidFill>
                  <a:srgbClr val="27BEAE"/>
                </a:solidFill>
                <a:latin typeface="Aptos"/>
              </a:rPr>
              <a:t>01</a:t>
            </a:r>
          </a:p>
        </p:txBody>
      </p:sp>
      <p:sp>
        <p:nvSpPr>
          <p:cNvPr id="9" name="TextBox 8"/>
          <p:cNvSpPr txBox="1"/>
          <p:nvPr/>
        </p:nvSpPr>
        <p:spPr>
          <a:xfrm>
            <a:off x="886968" y="2221992"/>
            <a:ext cx="3063240" cy="292608"/>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User Records</a:t>
            </a:r>
          </a:p>
        </p:txBody>
      </p:sp>
      <p:sp>
        <p:nvSpPr>
          <p:cNvPr id="10" name="TextBox 9"/>
          <p:cNvSpPr txBox="1"/>
          <p:nvPr/>
        </p:nvSpPr>
        <p:spPr>
          <a:xfrm>
            <a:off x="886968" y="2587752"/>
            <a:ext cx="3017520" cy="502920"/>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Organize client and freelancer information.</a:t>
            </a:r>
          </a:p>
        </p:txBody>
      </p:sp>
      <p:sp>
        <p:nvSpPr>
          <p:cNvPr id="11" name="Rounded Rectangle 10"/>
          <p:cNvSpPr/>
          <p:nvPr/>
        </p:nvSpPr>
        <p:spPr>
          <a:xfrm>
            <a:off x="4507992" y="1600200"/>
            <a:ext cx="3474720" cy="16459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09159" y="1764792"/>
            <a:ext cx="594360" cy="384048"/>
          </a:xfrm>
          <a:prstGeom prst="rect">
            <a:avLst/>
          </a:prstGeom>
          <a:noFill/>
        </p:spPr>
        <p:txBody>
          <a:bodyPr wrap="square" lIns="36576" tIns="36576" rIns="36576" bIns="36576" anchor="t">
            <a:spAutoFit/>
          </a:bodyPr>
          <a:lstStyle/>
          <a:p>
            <a:pPr algn="l">
              <a:spcAft>
                <a:spcPts val="0"/>
              </a:spcAft>
            </a:pPr>
            <a:r>
              <a:rPr sz="2000" b="1">
                <a:solidFill>
                  <a:srgbClr val="27BEAE"/>
                </a:solidFill>
                <a:latin typeface="Aptos"/>
              </a:rPr>
              <a:t>02</a:t>
            </a:r>
          </a:p>
        </p:txBody>
      </p:sp>
      <p:sp>
        <p:nvSpPr>
          <p:cNvPr id="13" name="TextBox 12"/>
          <p:cNvSpPr txBox="1"/>
          <p:nvPr/>
        </p:nvSpPr>
        <p:spPr>
          <a:xfrm>
            <a:off x="4709159" y="2221992"/>
            <a:ext cx="3063240" cy="292608"/>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Project Management</a:t>
            </a:r>
          </a:p>
        </p:txBody>
      </p:sp>
      <p:sp>
        <p:nvSpPr>
          <p:cNvPr id="14" name="TextBox 13"/>
          <p:cNvSpPr txBox="1"/>
          <p:nvPr/>
        </p:nvSpPr>
        <p:spPr>
          <a:xfrm>
            <a:off x="4709159" y="2587752"/>
            <a:ext cx="3017520" cy="502920"/>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Maintain project details and requirements.</a:t>
            </a:r>
          </a:p>
        </p:txBody>
      </p:sp>
      <p:sp>
        <p:nvSpPr>
          <p:cNvPr id="15" name="Rounded Rectangle 14"/>
          <p:cNvSpPr/>
          <p:nvPr/>
        </p:nvSpPr>
        <p:spPr>
          <a:xfrm>
            <a:off x="8330183" y="1600200"/>
            <a:ext cx="3474720" cy="16459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31352" y="1764792"/>
            <a:ext cx="594360" cy="384048"/>
          </a:xfrm>
          <a:prstGeom prst="rect">
            <a:avLst/>
          </a:prstGeom>
          <a:noFill/>
        </p:spPr>
        <p:txBody>
          <a:bodyPr wrap="square" lIns="36576" tIns="36576" rIns="36576" bIns="36576" anchor="t">
            <a:spAutoFit/>
          </a:bodyPr>
          <a:lstStyle/>
          <a:p>
            <a:pPr algn="l">
              <a:spcAft>
                <a:spcPts val="0"/>
              </a:spcAft>
            </a:pPr>
            <a:r>
              <a:rPr sz="2000" b="1">
                <a:solidFill>
                  <a:srgbClr val="27BEAE"/>
                </a:solidFill>
                <a:latin typeface="Aptos"/>
              </a:rPr>
              <a:t>03</a:t>
            </a:r>
          </a:p>
        </p:txBody>
      </p:sp>
      <p:sp>
        <p:nvSpPr>
          <p:cNvPr id="17" name="TextBox 16"/>
          <p:cNvSpPr txBox="1"/>
          <p:nvPr/>
        </p:nvSpPr>
        <p:spPr>
          <a:xfrm>
            <a:off x="8531352" y="2221992"/>
            <a:ext cx="3063240" cy="292608"/>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Bidding Workflow</a:t>
            </a:r>
          </a:p>
        </p:txBody>
      </p:sp>
      <p:sp>
        <p:nvSpPr>
          <p:cNvPr id="18" name="TextBox 17"/>
          <p:cNvSpPr txBox="1"/>
          <p:nvPr/>
        </p:nvSpPr>
        <p:spPr>
          <a:xfrm>
            <a:off x="8531352" y="2587752"/>
            <a:ext cx="3017520" cy="502920"/>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Connect freelancer bids with relevant projects.</a:t>
            </a:r>
          </a:p>
        </p:txBody>
      </p:sp>
      <p:sp>
        <p:nvSpPr>
          <p:cNvPr id="19" name="Rounded Rectangle 18"/>
          <p:cNvSpPr/>
          <p:nvPr/>
        </p:nvSpPr>
        <p:spPr>
          <a:xfrm>
            <a:off x="685800" y="3657600"/>
            <a:ext cx="3474720" cy="16459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968" y="3822191"/>
            <a:ext cx="594360" cy="384048"/>
          </a:xfrm>
          <a:prstGeom prst="rect">
            <a:avLst/>
          </a:prstGeom>
          <a:noFill/>
        </p:spPr>
        <p:txBody>
          <a:bodyPr wrap="square" lIns="36576" tIns="36576" rIns="36576" bIns="36576" anchor="t">
            <a:spAutoFit/>
          </a:bodyPr>
          <a:lstStyle/>
          <a:p>
            <a:pPr algn="l">
              <a:spcAft>
                <a:spcPts val="0"/>
              </a:spcAft>
            </a:pPr>
            <a:r>
              <a:rPr sz="2000" b="1">
                <a:solidFill>
                  <a:srgbClr val="27BEAE"/>
                </a:solidFill>
                <a:latin typeface="Aptos"/>
              </a:rPr>
              <a:t>04</a:t>
            </a:r>
          </a:p>
        </p:txBody>
      </p:sp>
      <p:sp>
        <p:nvSpPr>
          <p:cNvPr id="21" name="TextBox 20"/>
          <p:cNvSpPr txBox="1"/>
          <p:nvPr/>
        </p:nvSpPr>
        <p:spPr>
          <a:xfrm>
            <a:off x="886968" y="4279392"/>
            <a:ext cx="3063240" cy="292608"/>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Skills Mapping</a:t>
            </a:r>
          </a:p>
        </p:txBody>
      </p:sp>
      <p:sp>
        <p:nvSpPr>
          <p:cNvPr id="22" name="TextBox 21"/>
          <p:cNvSpPr txBox="1"/>
          <p:nvPr/>
        </p:nvSpPr>
        <p:spPr>
          <a:xfrm>
            <a:off x="886968" y="4645152"/>
            <a:ext cx="3017520" cy="502920"/>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Represent skills and freelancer expertise.</a:t>
            </a:r>
          </a:p>
        </p:txBody>
      </p:sp>
      <p:sp>
        <p:nvSpPr>
          <p:cNvPr id="23" name="Rounded Rectangle 22"/>
          <p:cNvSpPr/>
          <p:nvPr/>
        </p:nvSpPr>
        <p:spPr>
          <a:xfrm>
            <a:off x="4507992" y="3657600"/>
            <a:ext cx="3474720" cy="16459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09159" y="3822191"/>
            <a:ext cx="594360" cy="384048"/>
          </a:xfrm>
          <a:prstGeom prst="rect">
            <a:avLst/>
          </a:prstGeom>
          <a:noFill/>
        </p:spPr>
        <p:txBody>
          <a:bodyPr wrap="square" lIns="36576" tIns="36576" rIns="36576" bIns="36576" anchor="t">
            <a:spAutoFit/>
          </a:bodyPr>
          <a:lstStyle/>
          <a:p>
            <a:pPr algn="l">
              <a:spcAft>
                <a:spcPts val="0"/>
              </a:spcAft>
            </a:pPr>
            <a:r>
              <a:rPr sz="2000" b="1">
                <a:solidFill>
                  <a:srgbClr val="27BEAE"/>
                </a:solidFill>
                <a:latin typeface="Aptos"/>
              </a:rPr>
              <a:t>05</a:t>
            </a:r>
          </a:p>
        </p:txBody>
      </p:sp>
      <p:sp>
        <p:nvSpPr>
          <p:cNvPr id="25" name="TextBox 24"/>
          <p:cNvSpPr txBox="1"/>
          <p:nvPr/>
        </p:nvSpPr>
        <p:spPr>
          <a:xfrm>
            <a:off x="4709159" y="4279392"/>
            <a:ext cx="3063240" cy="292608"/>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Transaction Records</a:t>
            </a:r>
          </a:p>
        </p:txBody>
      </p:sp>
      <p:sp>
        <p:nvSpPr>
          <p:cNvPr id="26" name="TextBox 25"/>
          <p:cNvSpPr txBox="1"/>
          <p:nvPr/>
        </p:nvSpPr>
        <p:spPr>
          <a:xfrm>
            <a:off x="4709159" y="4645152"/>
            <a:ext cx="3017520" cy="502920"/>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Structure payment and review information.</a:t>
            </a:r>
          </a:p>
        </p:txBody>
      </p:sp>
      <p:sp>
        <p:nvSpPr>
          <p:cNvPr id="27" name="Rounded Rectangle 26"/>
          <p:cNvSpPr/>
          <p:nvPr/>
        </p:nvSpPr>
        <p:spPr>
          <a:xfrm>
            <a:off x="8330183" y="3657600"/>
            <a:ext cx="3474720" cy="16459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31352" y="3822191"/>
            <a:ext cx="594360" cy="384048"/>
          </a:xfrm>
          <a:prstGeom prst="rect">
            <a:avLst/>
          </a:prstGeom>
          <a:noFill/>
        </p:spPr>
        <p:txBody>
          <a:bodyPr wrap="square" lIns="36576" tIns="36576" rIns="36576" bIns="36576" anchor="t">
            <a:spAutoFit/>
          </a:bodyPr>
          <a:lstStyle/>
          <a:p>
            <a:pPr algn="l">
              <a:spcAft>
                <a:spcPts val="0"/>
              </a:spcAft>
            </a:pPr>
            <a:r>
              <a:rPr sz="2000" b="1">
                <a:solidFill>
                  <a:srgbClr val="27BEAE"/>
                </a:solidFill>
                <a:latin typeface="Aptos"/>
              </a:rPr>
              <a:t>06</a:t>
            </a:r>
          </a:p>
        </p:txBody>
      </p:sp>
      <p:sp>
        <p:nvSpPr>
          <p:cNvPr id="29" name="TextBox 28"/>
          <p:cNvSpPr txBox="1"/>
          <p:nvPr/>
        </p:nvSpPr>
        <p:spPr>
          <a:xfrm>
            <a:off x="8531352" y="4279392"/>
            <a:ext cx="3063240" cy="292608"/>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SQL Operations</a:t>
            </a:r>
          </a:p>
        </p:txBody>
      </p:sp>
      <p:sp>
        <p:nvSpPr>
          <p:cNvPr id="30" name="TextBox 29"/>
          <p:cNvSpPr txBox="1"/>
          <p:nvPr/>
        </p:nvSpPr>
        <p:spPr>
          <a:xfrm>
            <a:off x="8531352" y="4645152"/>
            <a:ext cx="3017520" cy="502920"/>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Demonstrate queries, joins and CRUD operations.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7772400" cy="256032"/>
          </a:xfrm>
          <a:prstGeom prst="rect">
            <a:avLst/>
          </a:prstGeom>
          <a:noFill/>
        </p:spPr>
        <p:txBody>
          <a:bodyPr wrap="square" lIns="36576" tIns="36576" rIns="36576" bIns="36576" anchor="t">
            <a:spAutoFit/>
          </a:bodyPr>
          <a:lstStyle/>
          <a:p>
            <a:pPr algn="l">
              <a:spcAft>
                <a:spcPts val="0"/>
              </a:spcAft>
            </a:pPr>
            <a:r>
              <a:rPr sz="1000" b="1">
                <a:solidFill>
                  <a:srgbClr val="27BEAE"/>
                </a:solidFill>
                <a:latin typeface="Aptos"/>
              </a:rPr>
              <a:t>03 • IMPLEMENTATION</a:t>
            </a:r>
          </a:p>
        </p:txBody>
      </p:sp>
      <p:sp>
        <p:nvSpPr>
          <p:cNvPr id="3" name="TextBox 2"/>
          <p:cNvSpPr txBox="1"/>
          <p:nvPr/>
        </p:nvSpPr>
        <p:spPr>
          <a:xfrm>
            <a:off x="594360" y="594360"/>
            <a:ext cx="9875520" cy="502920"/>
          </a:xfrm>
          <a:prstGeom prst="rect">
            <a:avLst/>
          </a:prstGeom>
          <a:noFill/>
        </p:spPr>
        <p:txBody>
          <a:bodyPr wrap="square" lIns="36576" tIns="36576" rIns="36576" bIns="36576" anchor="t">
            <a:spAutoFit/>
          </a:bodyPr>
          <a:lstStyle/>
          <a:p>
            <a:pPr algn="l">
              <a:spcAft>
                <a:spcPts val="0"/>
              </a:spcAft>
            </a:pPr>
            <a:r>
              <a:rPr sz="2800" b="1">
                <a:solidFill>
                  <a:srgbClr val="F7FAFD"/>
                </a:solidFill>
                <a:latin typeface="Aptos"/>
              </a:rPr>
              <a:t>Technology Stack</a:t>
            </a:r>
          </a:p>
        </p:txBody>
      </p:sp>
      <p:sp>
        <p:nvSpPr>
          <p:cNvPr id="4" name="TextBox 3"/>
          <p:cNvSpPr txBox="1"/>
          <p:nvPr/>
        </p:nvSpPr>
        <p:spPr>
          <a:xfrm>
            <a:off x="10972800" y="320040"/>
            <a:ext cx="640080" cy="320040"/>
          </a:xfrm>
          <a:prstGeom prst="rect">
            <a:avLst/>
          </a:prstGeom>
          <a:noFill/>
        </p:spPr>
        <p:txBody>
          <a:bodyPr wrap="square" lIns="36576" tIns="36576" rIns="36576" bIns="36576" anchor="t">
            <a:spAutoFit/>
          </a:bodyPr>
          <a:lstStyle/>
          <a:p>
            <a:pPr algn="r">
              <a:spcAft>
                <a:spcPts val="0"/>
              </a:spcAft>
            </a:pPr>
            <a:r>
              <a:rPr sz="1300" b="1">
                <a:solidFill>
                  <a:srgbClr val="B1BFD0"/>
                </a:solidFill>
                <a:latin typeface="Aptos"/>
              </a:rPr>
              <a:t>04</a:t>
            </a:r>
          </a:p>
        </p:txBody>
      </p:sp>
      <p:sp>
        <p:nvSpPr>
          <p:cNvPr id="5" name="Rectangle 4"/>
          <p:cNvSpPr/>
          <p:nvPr/>
        </p:nvSpPr>
        <p:spPr>
          <a:xfrm>
            <a:off x="594360" y="1234440"/>
            <a:ext cx="594360" cy="50292"/>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9672"/>
            <a:ext cx="7772400" cy="164592"/>
          </a:xfrm>
          <a:prstGeom prst="rect">
            <a:avLst/>
          </a:prstGeom>
          <a:noFill/>
        </p:spPr>
        <p:txBody>
          <a:bodyPr wrap="square" lIns="36576" tIns="36576" rIns="36576" bIns="36576" anchor="t">
            <a:spAutoFit/>
          </a:bodyPr>
          <a:lstStyle/>
          <a:p>
            <a:pPr algn="l">
              <a:spcAft>
                <a:spcPts val="0"/>
              </a:spcAft>
            </a:pPr>
            <a:r>
              <a:rPr sz="800" b="1">
                <a:solidFill>
                  <a:srgbClr val="B1BFD0"/>
                </a:solidFill>
                <a:latin typeface="Aptos"/>
              </a:rPr>
              <a:t>FREELANCER MARKETPLACE  •  DBMS MINI PROJECT</a:t>
            </a:r>
          </a:p>
        </p:txBody>
      </p:sp>
      <p:sp>
        <p:nvSpPr>
          <p:cNvPr id="7" name="Rounded Rectangle 6"/>
          <p:cNvSpPr/>
          <p:nvPr/>
        </p:nvSpPr>
        <p:spPr>
          <a:xfrm>
            <a:off x="731520" y="1600200"/>
            <a:ext cx="5212080" cy="11887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600200"/>
            <a:ext cx="64008" cy="1188720"/>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764792"/>
            <a:ext cx="482803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POSTGRESQL</a:t>
            </a:r>
          </a:p>
        </p:txBody>
      </p:sp>
      <p:sp>
        <p:nvSpPr>
          <p:cNvPr id="10" name="TextBox 9"/>
          <p:cNvSpPr txBox="1"/>
          <p:nvPr/>
        </p:nvSpPr>
        <p:spPr>
          <a:xfrm>
            <a:off x="932688" y="2221992"/>
            <a:ext cx="4828032" cy="43891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Relational database for persistent, structured data.</a:t>
            </a:r>
          </a:p>
        </p:txBody>
      </p:sp>
      <p:sp>
        <p:nvSpPr>
          <p:cNvPr id="11" name="Rounded Rectangle 10"/>
          <p:cNvSpPr/>
          <p:nvPr/>
        </p:nvSpPr>
        <p:spPr>
          <a:xfrm>
            <a:off x="6355080" y="1600200"/>
            <a:ext cx="5212080" cy="11887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55080" y="1600200"/>
            <a:ext cx="64008" cy="1188720"/>
          </a:xfrm>
          <a:prstGeom prst="rect">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56248" y="1764792"/>
            <a:ext cx="482803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SQL</a:t>
            </a:r>
          </a:p>
        </p:txBody>
      </p:sp>
      <p:sp>
        <p:nvSpPr>
          <p:cNvPr id="14" name="TextBox 13"/>
          <p:cNvSpPr txBox="1"/>
          <p:nvPr/>
        </p:nvSpPr>
        <p:spPr>
          <a:xfrm>
            <a:off x="6556248" y="2221992"/>
            <a:ext cx="4828032" cy="43891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Queries, joins, aggregates, constraints and data updates.</a:t>
            </a:r>
          </a:p>
        </p:txBody>
      </p:sp>
      <p:sp>
        <p:nvSpPr>
          <p:cNvPr id="15" name="Rounded Rectangle 14"/>
          <p:cNvSpPr/>
          <p:nvPr/>
        </p:nvSpPr>
        <p:spPr>
          <a:xfrm>
            <a:off x="731520" y="3081528"/>
            <a:ext cx="5212080" cy="11887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3081528"/>
            <a:ext cx="64008" cy="1188720"/>
          </a:xfrm>
          <a:prstGeom prst="rect">
            <a:avLst/>
          </a:prstGeom>
          <a:solidFill>
            <a:srgbClr val="A2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3246120"/>
            <a:ext cx="482803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HTML / CSS</a:t>
            </a:r>
          </a:p>
        </p:txBody>
      </p:sp>
      <p:sp>
        <p:nvSpPr>
          <p:cNvPr id="18" name="TextBox 17"/>
          <p:cNvSpPr txBox="1"/>
          <p:nvPr/>
        </p:nvSpPr>
        <p:spPr>
          <a:xfrm>
            <a:off x="932688" y="3703320"/>
            <a:ext cx="4828032" cy="43891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Structure and styling for the web interface.</a:t>
            </a:r>
          </a:p>
        </p:txBody>
      </p:sp>
      <p:sp>
        <p:nvSpPr>
          <p:cNvPr id="19" name="Rounded Rectangle 18"/>
          <p:cNvSpPr/>
          <p:nvPr/>
        </p:nvSpPr>
        <p:spPr>
          <a:xfrm>
            <a:off x="6355080" y="3081528"/>
            <a:ext cx="5212080" cy="11887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55080" y="3081528"/>
            <a:ext cx="64008" cy="1188720"/>
          </a:xfrm>
          <a:prstGeom prst="rect">
            <a:avLst/>
          </a:prstGeom>
          <a:solidFill>
            <a:srgbClr val="6CD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56248" y="3246120"/>
            <a:ext cx="482803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JAVASCRIPT</a:t>
            </a:r>
          </a:p>
        </p:txBody>
      </p:sp>
      <p:sp>
        <p:nvSpPr>
          <p:cNvPr id="22" name="TextBox 21"/>
          <p:cNvSpPr txBox="1"/>
          <p:nvPr/>
        </p:nvSpPr>
        <p:spPr>
          <a:xfrm>
            <a:off x="6556248" y="3703320"/>
            <a:ext cx="4828032" cy="43891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Client-side interactions and form behaviour.</a:t>
            </a:r>
          </a:p>
        </p:txBody>
      </p:sp>
      <p:sp>
        <p:nvSpPr>
          <p:cNvPr id="23" name="Rounded Rectangle 22"/>
          <p:cNvSpPr/>
          <p:nvPr/>
        </p:nvSpPr>
        <p:spPr>
          <a:xfrm>
            <a:off x="731520" y="4562856"/>
            <a:ext cx="5212080" cy="11887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31520" y="4562856"/>
            <a:ext cx="64008" cy="1188720"/>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4727448"/>
            <a:ext cx="482803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VISUAL STUDIO CODE</a:t>
            </a:r>
          </a:p>
        </p:txBody>
      </p:sp>
      <p:sp>
        <p:nvSpPr>
          <p:cNvPr id="26" name="TextBox 25"/>
          <p:cNvSpPr txBox="1"/>
          <p:nvPr/>
        </p:nvSpPr>
        <p:spPr>
          <a:xfrm>
            <a:off x="932688" y="5184648"/>
            <a:ext cx="4828032" cy="43891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Development environment used while building the project.</a:t>
            </a:r>
          </a:p>
        </p:txBody>
      </p:sp>
      <p:sp>
        <p:nvSpPr>
          <p:cNvPr id="27" name="Rounded Rectangle 26"/>
          <p:cNvSpPr/>
          <p:nvPr/>
        </p:nvSpPr>
        <p:spPr>
          <a:xfrm>
            <a:off x="6355080" y="4562856"/>
            <a:ext cx="5212080" cy="118872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55080" y="4562856"/>
            <a:ext cx="64008" cy="1188720"/>
          </a:xfrm>
          <a:prstGeom prst="rect">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56248" y="4727448"/>
            <a:ext cx="482803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PGADMIN 4</a:t>
            </a:r>
          </a:p>
        </p:txBody>
      </p:sp>
      <p:sp>
        <p:nvSpPr>
          <p:cNvPr id="30" name="TextBox 29"/>
          <p:cNvSpPr txBox="1"/>
          <p:nvPr/>
        </p:nvSpPr>
        <p:spPr>
          <a:xfrm>
            <a:off x="6556248" y="5184648"/>
            <a:ext cx="4828032" cy="43891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Database administration and query execution tool.</a:t>
            </a:r>
          </a:p>
        </p:txBody>
      </p:sp>
      <p:sp>
        <p:nvSpPr>
          <p:cNvPr id="31" name="TextBox 30"/>
          <p:cNvSpPr txBox="1"/>
          <p:nvPr/>
        </p:nvSpPr>
        <p:spPr>
          <a:xfrm>
            <a:off x="777240" y="6144768"/>
            <a:ext cx="10698480" cy="228600"/>
          </a:xfrm>
          <a:prstGeom prst="rect">
            <a:avLst/>
          </a:prstGeom>
          <a:noFill/>
        </p:spPr>
        <p:txBody>
          <a:bodyPr wrap="square" lIns="36576" tIns="36576" rIns="36576" bIns="36576" anchor="t">
            <a:spAutoFit/>
          </a:bodyPr>
          <a:lstStyle/>
          <a:p>
            <a:pPr algn="l">
              <a:spcAft>
                <a:spcPts val="0"/>
              </a:spcAft>
            </a:pPr>
            <a:r>
              <a:rPr sz="900" b="0">
                <a:solidFill>
                  <a:srgbClr val="B1BFD0"/>
                </a:solidFill>
                <a:latin typeface="Aptos"/>
              </a:rPr>
              <a:t>Note: Add the backend technology here if your final implementation uses 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7772400" cy="256032"/>
          </a:xfrm>
          <a:prstGeom prst="rect">
            <a:avLst/>
          </a:prstGeom>
          <a:noFill/>
        </p:spPr>
        <p:txBody>
          <a:bodyPr wrap="square" lIns="36576" tIns="36576" rIns="36576" bIns="36576" anchor="t">
            <a:spAutoFit/>
          </a:bodyPr>
          <a:lstStyle/>
          <a:p>
            <a:pPr algn="l">
              <a:spcAft>
                <a:spcPts val="0"/>
              </a:spcAft>
            </a:pPr>
            <a:r>
              <a:rPr sz="1000" b="1">
                <a:solidFill>
                  <a:srgbClr val="27BEAE"/>
                </a:solidFill>
                <a:latin typeface="Aptos"/>
              </a:rPr>
              <a:t>04 • SYSTEM DESIGN</a:t>
            </a:r>
          </a:p>
        </p:txBody>
      </p:sp>
      <p:sp>
        <p:nvSpPr>
          <p:cNvPr id="3" name="TextBox 2"/>
          <p:cNvSpPr txBox="1"/>
          <p:nvPr/>
        </p:nvSpPr>
        <p:spPr>
          <a:xfrm>
            <a:off x="594360" y="594360"/>
            <a:ext cx="9875520" cy="502920"/>
          </a:xfrm>
          <a:prstGeom prst="rect">
            <a:avLst/>
          </a:prstGeom>
          <a:noFill/>
        </p:spPr>
        <p:txBody>
          <a:bodyPr wrap="square" lIns="36576" tIns="36576" rIns="36576" bIns="36576" anchor="t">
            <a:spAutoFit/>
          </a:bodyPr>
          <a:lstStyle/>
          <a:p>
            <a:pPr algn="l">
              <a:spcAft>
                <a:spcPts val="0"/>
              </a:spcAft>
            </a:pPr>
            <a:r>
              <a:rPr sz="2800" b="1">
                <a:solidFill>
                  <a:srgbClr val="F7FAFD"/>
                </a:solidFill>
                <a:latin typeface="Aptos"/>
              </a:rPr>
              <a:t>System Architecture</a:t>
            </a:r>
          </a:p>
        </p:txBody>
      </p:sp>
      <p:sp>
        <p:nvSpPr>
          <p:cNvPr id="4" name="TextBox 3"/>
          <p:cNvSpPr txBox="1"/>
          <p:nvPr/>
        </p:nvSpPr>
        <p:spPr>
          <a:xfrm>
            <a:off x="10972800" y="320040"/>
            <a:ext cx="640080" cy="320040"/>
          </a:xfrm>
          <a:prstGeom prst="rect">
            <a:avLst/>
          </a:prstGeom>
          <a:noFill/>
        </p:spPr>
        <p:txBody>
          <a:bodyPr wrap="square" lIns="36576" tIns="36576" rIns="36576" bIns="36576" anchor="t">
            <a:spAutoFit/>
          </a:bodyPr>
          <a:lstStyle/>
          <a:p>
            <a:pPr algn="r">
              <a:spcAft>
                <a:spcPts val="0"/>
              </a:spcAft>
            </a:pPr>
            <a:r>
              <a:rPr sz="1300" b="1">
                <a:solidFill>
                  <a:srgbClr val="B1BFD0"/>
                </a:solidFill>
                <a:latin typeface="Aptos"/>
              </a:rPr>
              <a:t>05</a:t>
            </a:r>
          </a:p>
        </p:txBody>
      </p:sp>
      <p:sp>
        <p:nvSpPr>
          <p:cNvPr id="5" name="Rectangle 4"/>
          <p:cNvSpPr/>
          <p:nvPr/>
        </p:nvSpPr>
        <p:spPr>
          <a:xfrm>
            <a:off x="594360" y="1234440"/>
            <a:ext cx="594360" cy="50292"/>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9672"/>
            <a:ext cx="7772400" cy="164592"/>
          </a:xfrm>
          <a:prstGeom prst="rect">
            <a:avLst/>
          </a:prstGeom>
          <a:noFill/>
        </p:spPr>
        <p:txBody>
          <a:bodyPr wrap="square" lIns="36576" tIns="36576" rIns="36576" bIns="36576" anchor="t">
            <a:spAutoFit/>
          </a:bodyPr>
          <a:lstStyle/>
          <a:p>
            <a:pPr algn="l">
              <a:spcAft>
                <a:spcPts val="0"/>
              </a:spcAft>
            </a:pPr>
            <a:r>
              <a:rPr sz="800" b="1">
                <a:solidFill>
                  <a:srgbClr val="B1BFD0"/>
                </a:solidFill>
                <a:latin typeface="Aptos"/>
              </a:rPr>
              <a:t>FREELANCER MARKETPLACE  •  DBMS MINI PROJECT</a:t>
            </a:r>
          </a:p>
        </p:txBody>
      </p:sp>
      <p:sp>
        <p:nvSpPr>
          <p:cNvPr id="7" name="Rounded Rectangle 6"/>
          <p:cNvSpPr/>
          <p:nvPr/>
        </p:nvSpPr>
        <p:spPr>
          <a:xfrm>
            <a:off x="685800" y="1920240"/>
            <a:ext cx="1691640" cy="12344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2148840"/>
            <a:ext cx="1536192" cy="292608"/>
          </a:xfrm>
          <a:prstGeom prst="rect">
            <a:avLst/>
          </a:prstGeom>
          <a:noFill/>
        </p:spPr>
        <p:txBody>
          <a:bodyPr wrap="square" lIns="36576" tIns="36576" rIns="36576" bIns="36576" anchor="t">
            <a:spAutoFit/>
          </a:bodyPr>
          <a:lstStyle/>
          <a:p>
            <a:pPr algn="ctr">
              <a:spcAft>
                <a:spcPts val="0"/>
              </a:spcAft>
            </a:pPr>
            <a:r>
              <a:rPr sz="1200" b="1">
                <a:solidFill>
                  <a:srgbClr val="27BEAE"/>
                </a:solidFill>
                <a:latin typeface="Aptos"/>
              </a:rPr>
              <a:t>USER</a:t>
            </a:r>
          </a:p>
        </p:txBody>
      </p:sp>
      <p:sp>
        <p:nvSpPr>
          <p:cNvPr id="9" name="TextBox 8"/>
          <p:cNvSpPr txBox="1"/>
          <p:nvPr/>
        </p:nvSpPr>
        <p:spPr>
          <a:xfrm>
            <a:off x="758952" y="2606040"/>
            <a:ext cx="1536192" cy="384048"/>
          </a:xfrm>
          <a:prstGeom prst="rect">
            <a:avLst/>
          </a:prstGeom>
          <a:noFill/>
        </p:spPr>
        <p:txBody>
          <a:bodyPr wrap="square" lIns="36576" tIns="36576" rIns="36576" bIns="36576" anchor="t">
            <a:spAutoFit/>
          </a:bodyPr>
          <a:lstStyle/>
          <a:p>
            <a:pPr algn="ctr">
              <a:spcAft>
                <a:spcPts val="0"/>
              </a:spcAft>
            </a:pPr>
            <a:r>
              <a:rPr sz="1000" b="0">
                <a:solidFill>
                  <a:srgbClr val="F7FAFD"/>
                </a:solidFill>
                <a:latin typeface="Aptos"/>
              </a:rPr>
              <a:t>Browser / UI</a:t>
            </a:r>
          </a:p>
        </p:txBody>
      </p:sp>
      <p:sp>
        <p:nvSpPr>
          <p:cNvPr id="10" name="Rounded Rectangle 9"/>
          <p:cNvSpPr/>
          <p:nvPr/>
        </p:nvSpPr>
        <p:spPr>
          <a:xfrm>
            <a:off x="2926080" y="1920240"/>
            <a:ext cx="1691640" cy="12344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99232" y="2148840"/>
            <a:ext cx="1536192" cy="292608"/>
          </a:xfrm>
          <a:prstGeom prst="rect">
            <a:avLst/>
          </a:prstGeom>
          <a:noFill/>
        </p:spPr>
        <p:txBody>
          <a:bodyPr wrap="square" lIns="36576" tIns="36576" rIns="36576" bIns="36576" anchor="t">
            <a:spAutoFit/>
          </a:bodyPr>
          <a:lstStyle/>
          <a:p>
            <a:pPr algn="ctr">
              <a:spcAft>
                <a:spcPts val="0"/>
              </a:spcAft>
            </a:pPr>
            <a:r>
              <a:rPr sz="1200" b="1">
                <a:solidFill>
                  <a:srgbClr val="A28BFF"/>
                </a:solidFill>
                <a:latin typeface="Aptos"/>
              </a:rPr>
              <a:t>WEB LAYER</a:t>
            </a:r>
          </a:p>
        </p:txBody>
      </p:sp>
      <p:sp>
        <p:nvSpPr>
          <p:cNvPr id="12" name="TextBox 11"/>
          <p:cNvSpPr txBox="1"/>
          <p:nvPr/>
        </p:nvSpPr>
        <p:spPr>
          <a:xfrm>
            <a:off x="2999232" y="2606040"/>
            <a:ext cx="1536192" cy="384048"/>
          </a:xfrm>
          <a:prstGeom prst="rect">
            <a:avLst/>
          </a:prstGeom>
          <a:noFill/>
        </p:spPr>
        <p:txBody>
          <a:bodyPr wrap="square" lIns="36576" tIns="36576" rIns="36576" bIns="36576" anchor="t">
            <a:spAutoFit/>
          </a:bodyPr>
          <a:lstStyle/>
          <a:p>
            <a:pPr algn="ctr">
              <a:spcAft>
                <a:spcPts val="0"/>
              </a:spcAft>
            </a:pPr>
            <a:r>
              <a:rPr sz="1000" b="0">
                <a:solidFill>
                  <a:srgbClr val="F7FAFD"/>
                </a:solidFill>
                <a:latin typeface="Aptos"/>
              </a:rPr>
              <a:t>Pages + forms</a:t>
            </a:r>
          </a:p>
        </p:txBody>
      </p:sp>
      <p:sp>
        <p:nvSpPr>
          <p:cNvPr id="13" name="Rounded Rectangle 12"/>
          <p:cNvSpPr/>
          <p:nvPr/>
        </p:nvSpPr>
        <p:spPr>
          <a:xfrm>
            <a:off x="5257800" y="1920240"/>
            <a:ext cx="1691640" cy="12344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30952" y="2148840"/>
            <a:ext cx="1536192" cy="292608"/>
          </a:xfrm>
          <a:prstGeom prst="rect">
            <a:avLst/>
          </a:prstGeom>
          <a:noFill/>
        </p:spPr>
        <p:txBody>
          <a:bodyPr wrap="square" lIns="36576" tIns="36576" rIns="36576" bIns="36576" anchor="t">
            <a:spAutoFit/>
          </a:bodyPr>
          <a:lstStyle/>
          <a:p>
            <a:pPr algn="ctr">
              <a:spcAft>
                <a:spcPts val="0"/>
              </a:spcAft>
            </a:pPr>
            <a:r>
              <a:rPr sz="1200" b="1">
                <a:solidFill>
                  <a:srgbClr val="FFBE5C"/>
                </a:solidFill>
                <a:latin typeface="Aptos"/>
              </a:rPr>
              <a:t>BACKEND API</a:t>
            </a:r>
          </a:p>
        </p:txBody>
      </p:sp>
      <p:sp>
        <p:nvSpPr>
          <p:cNvPr id="15" name="TextBox 14"/>
          <p:cNvSpPr txBox="1"/>
          <p:nvPr/>
        </p:nvSpPr>
        <p:spPr>
          <a:xfrm>
            <a:off x="5330952" y="2606040"/>
            <a:ext cx="1536192" cy="384048"/>
          </a:xfrm>
          <a:prstGeom prst="rect">
            <a:avLst/>
          </a:prstGeom>
          <a:noFill/>
        </p:spPr>
        <p:txBody>
          <a:bodyPr wrap="square" lIns="36576" tIns="36576" rIns="36576" bIns="36576" anchor="t">
            <a:spAutoFit/>
          </a:bodyPr>
          <a:lstStyle/>
          <a:p>
            <a:pPr algn="ctr">
              <a:spcAft>
                <a:spcPts val="0"/>
              </a:spcAft>
            </a:pPr>
            <a:r>
              <a:rPr sz="1000" b="0">
                <a:solidFill>
                  <a:srgbClr val="F7FAFD"/>
                </a:solidFill>
                <a:latin typeface="Aptos"/>
              </a:rPr>
              <a:t>Validation + logic</a:t>
            </a:r>
          </a:p>
        </p:txBody>
      </p:sp>
      <p:sp>
        <p:nvSpPr>
          <p:cNvPr id="16" name="Rounded Rectangle 15"/>
          <p:cNvSpPr/>
          <p:nvPr/>
        </p:nvSpPr>
        <p:spPr>
          <a:xfrm>
            <a:off x="7589520" y="1920240"/>
            <a:ext cx="1691640" cy="12344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62672" y="2148840"/>
            <a:ext cx="1536192" cy="292608"/>
          </a:xfrm>
          <a:prstGeom prst="rect">
            <a:avLst/>
          </a:prstGeom>
          <a:noFill/>
        </p:spPr>
        <p:txBody>
          <a:bodyPr wrap="square" lIns="36576" tIns="36576" rIns="36576" bIns="36576" anchor="t">
            <a:spAutoFit/>
          </a:bodyPr>
          <a:lstStyle/>
          <a:p>
            <a:pPr algn="ctr">
              <a:spcAft>
                <a:spcPts val="0"/>
              </a:spcAft>
            </a:pPr>
            <a:r>
              <a:rPr sz="1200" b="1">
                <a:solidFill>
                  <a:srgbClr val="6CDCD5"/>
                </a:solidFill>
                <a:latin typeface="Aptos"/>
              </a:rPr>
              <a:t>SQL QUERIES</a:t>
            </a:r>
          </a:p>
        </p:txBody>
      </p:sp>
      <p:sp>
        <p:nvSpPr>
          <p:cNvPr id="18" name="TextBox 17"/>
          <p:cNvSpPr txBox="1"/>
          <p:nvPr/>
        </p:nvSpPr>
        <p:spPr>
          <a:xfrm>
            <a:off x="7662672" y="2606040"/>
            <a:ext cx="1536192" cy="384048"/>
          </a:xfrm>
          <a:prstGeom prst="rect">
            <a:avLst/>
          </a:prstGeom>
          <a:noFill/>
        </p:spPr>
        <p:txBody>
          <a:bodyPr wrap="square" lIns="36576" tIns="36576" rIns="36576" bIns="36576" anchor="t">
            <a:spAutoFit/>
          </a:bodyPr>
          <a:lstStyle/>
          <a:p>
            <a:pPr algn="ctr">
              <a:spcAft>
                <a:spcPts val="0"/>
              </a:spcAft>
            </a:pPr>
            <a:r>
              <a:rPr sz="1000" b="0">
                <a:solidFill>
                  <a:srgbClr val="F7FAFD"/>
                </a:solidFill>
                <a:latin typeface="Aptos"/>
              </a:rPr>
              <a:t>Read / write data</a:t>
            </a:r>
          </a:p>
        </p:txBody>
      </p:sp>
      <p:sp>
        <p:nvSpPr>
          <p:cNvPr id="19" name="Rounded Rectangle 18"/>
          <p:cNvSpPr/>
          <p:nvPr/>
        </p:nvSpPr>
        <p:spPr>
          <a:xfrm>
            <a:off x="9738360" y="1920240"/>
            <a:ext cx="1691640" cy="12344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11512" y="2148840"/>
            <a:ext cx="1536192" cy="292608"/>
          </a:xfrm>
          <a:prstGeom prst="rect">
            <a:avLst/>
          </a:prstGeom>
          <a:noFill/>
        </p:spPr>
        <p:txBody>
          <a:bodyPr wrap="square" lIns="36576" tIns="36576" rIns="36576" bIns="36576" anchor="t">
            <a:spAutoFit/>
          </a:bodyPr>
          <a:lstStyle/>
          <a:p>
            <a:pPr algn="ctr">
              <a:spcAft>
                <a:spcPts val="0"/>
              </a:spcAft>
            </a:pPr>
            <a:r>
              <a:rPr sz="1200" b="1">
                <a:solidFill>
                  <a:srgbClr val="27BEAE"/>
                </a:solidFill>
                <a:latin typeface="Aptos"/>
              </a:rPr>
              <a:t>POSTGRESQL</a:t>
            </a:r>
          </a:p>
        </p:txBody>
      </p:sp>
      <p:sp>
        <p:nvSpPr>
          <p:cNvPr id="21" name="TextBox 20"/>
          <p:cNvSpPr txBox="1"/>
          <p:nvPr/>
        </p:nvSpPr>
        <p:spPr>
          <a:xfrm>
            <a:off x="9811512" y="2606040"/>
            <a:ext cx="1536192" cy="384048"/>
          </a:xfrm>
          <a:prstGeom prst="rect">
            <a:avLst/>
          </a:prstGeom>
          <a:noFill/>
        </p:spPr>
        <p:txBody>
          <a:bodyPr wrap="square" lIns="36576" tIns="36576" rIns="36576" bIns="36576" anchor="t">
            <a:spAutoFit/>
          </a:bodyPr>
          <a:lstStyle/>
          <a:p>
            <a:pPr algn="ctr">
              <a:spcAft>
                <a:spcPts val="0"/>
              </a:spcAft>
            </a:pPr>
            <a:r>
              <a:rPr sz="1000" b="0">
                <a:solidFill>
                  <a:srgbClr val="F7FAFD"/>
                </a:solidFill>
                <a:latin typeface="Aptos"/>
              </a:rPr>
              <a:t>Tables + relations</a:t>
            </a:r>
          </a:p>
        </p:txBody>
      </p:sp>
      <p:sp>
        <p:nvSpPr>
          <p:cNvPr id="22" name="TextBox 21"/>
          <p:cNvSpPr txBox="1"/>
          <p:nvPr/>
        </p:nvSpPr>
        <p:spPr>
          <a:xfrm>
            <a:off x="2423160" y="2331720"/>
            <a:ext cx="365760" cy="274320"/>
          </a:xfrm>
          <a:prstGeom prst="rect">
            <a:avLst/>
          </a:prstGeom>
          <a:noFill/>
        </p:spPr>
        <p:txBody>
          <a:bodyPr wrap="square" lIns="36576" tIns="36576" rIns="36576" bIns="36576" anchor="t">
            <a:spAutoFit/>
          </a:bodyPr>
          <a:lstStyle/>
          <a:p>
            <a:pPr algn="ctr">
              <a:spcAft>
                <a:spcPts val="0"/>
              </a:spcAft>
            </a:pPr>
            <a:r>
              <a:rPr sz="2100" b="1">
                <a:solidFill>
                  <a:srgbClr val="27BEAE"/>
                </a:solidFill>
                <a:latin typeface="Aptos"/>
              </a:rPr>
              <a:t>→</a:t>
            </a:r>
          </a:p>
        </p:txBody>
      </p:sp>
      <p:sp>
        <p:nvSpPr>
          <p:cNvPr id="23" name="TextBox 22"/>
          <p:cNvSpPr txBox="1"/>
          <p:nvPr/>
        </p:nvSpPr>
        <p:spPr>
          <a:xfrm>
            <a:off x="4754880" y="2331720"/>
            <a:ext cx="365760" cy="274320"/>
          </a:xfrm>
          <a:prstGeom prst="rect">
            <a:avLst/>
          </a:prstGeom>
          <a:noFill/>
        </p:spPr>
        <p:txBody>
          <a:bodyPr wrap="square" lIns="36576" tIns="36576" rIns="36576" bIns="36576" anchor="t">
            <a:spAutoFit/>
          </a:bodyPr>
          <a:lstStyle/>
          <a:p>
            <a:pPr algn="ctr">
              <a:spcAft>
                <a:spcPts val="0"/>
              </a:spcAft>
            </a:pPr>
            <a:r>
              <a:rPr sz="2100" b="1">
                <a:solidFill>
                  <a:srgbClr val="27BEAE"/>
                </a:solidFill>
                <a:latin typeface="Aptos"/>
              </a:rPr>
              <a:t>→</a:t>
            </a:r>
          </a:p>
        </p:txBody>
      </p:sp>
      <p:sp>
        <p:nvSpPr>
          <p:cNvPr id="24" name="TextBox 23"/>
          <p:cNvSpPr txBox="1"/>
          <p:nvPr/>
        </p:nvSpPr>
        <p:spPr>
          <a:xfrm>
            <a:off x="7086600" y="2331720"/>
            <a:ext cx="365760" cy="274320"/>
          </a:xfrm>
          <a:prstGeom prst="rect">
            <a:avLst/>
          </a:prstGeom>
          <a:noFill/>
        </p:spPr>
        <p:txBody>
          <a:bodyPr wrap="square" lIns="36576" tIns="36576" rIns="36576" bIns="36576" anchor="t">
            <a:spAutoFit/>
          </a:bodyPr>
          <a:lstStyle/>
          <a:p>
            <a:pPr algn="ctr">
              <a:spcAft>
                <a:spcPts val="0"/>
              </a:spcAft>
            </a:pPr>
            <a:r>
              <a:rPr sz="2100" b="1">
                <a:solidFill>
                  <a:srgbClr val="27BEAE"/>
                </a:solidFill>
                <a:latin typeface="Aptos"/>
              </a:rPr>
              <a:t>→</a:t>
            </a:r>
          </a:p>
        </p:txBody>
      </p:sp>
      <p:sp>
        <p:nvSpPr>
          <p:cNvPr id="25" name="TextBox 24"/>
          <p:cNvSpPr txBox="1"/>
          <p:nvPr/>
        </p:nvSpPr>
        <p:spPr>
          <a:xfrm>
            <a:off x="9235440" y="2331720"/>
            <a:ext cx="365760" cy="274320"/>
          </a:xfrm>
          <a:prstGeom prst="rect">
            <a:avLst/>
          </a:prstGeom>
          <a:noFill/>
        </p:spPr>
        <p:txBody>
          <a:bodyPr wrap="square" lIns="36576" tIns="36576" rIns="36576" bIns="36576" anchor="t">
            <a:spAutoFit/>
          </a:bodyPr>
          <a:lstStyle/>
          <a:p>
            <a:pPr algn="ctr">
              <a:spcAft>
                <a:spcPts val="0"/>
              </a:spcAft>
            </a:pPr>
            <a:r>
              <a:rPr sz="2100" b="1">
                <a:solidFill>
                  <a:srgbClr val="27BEAE"/>
                </a:solidFill>
                <a:latin typeface="Aptos"/>
              </a:rPr>
              <a:t>→</a:t>
            </a:r>
          </a:p>
        </p:txBody>
      </p:sp>
      <p:sp>
        <p:nvSpPr>
          <p:cNvPr id="26" name="TextBox 25"/>
          <p:cNvSpPr txBox="1"/>
          <p:nvPr/>
        </p:nvSpPr>
        <p:spPr>
          <a:xfrm>
            <a:off x="822960" y="3886200"/>
            <a:ext cx="5029200" cy="320040"/>
          </a:xfrm>
          <a:prstGeom prst="rect">
            <a:avLst/>
          </a:prstGeom>
          <a:noFill/>
        </p:spPr>
        <p:txBody>
          <a:bodyPr wrap="square" lIns="36576" tIns="36576" rIns="36576" bIns="36576" anchor="t">
            <a:spAutoFit/>
          </a:bodyPr>
          <a:lstStyle/>
          <a:p>
            <a:pPr algn="l">
              <a:spcAft>
                <a:spcPts val="0"/>
              </a:spcAft>
            </a:pPr>
            <a:r>
              <a:rPr sz="1200" b="1">
                <a:solidFill>
                  <a:srgbClr val="27BEAE"/>
                </a:solidFill>
                <a:latin typeface="Aptos"/>
              </a:rPr>
              <a:t>HOW THE SYSTEM WORKS</a:t>
            </a:r>
          </a:p>
        </p:txBody>
      </p:sp>
      <p:sp>
        <p:nvSpPr>
          <p:cNvPr id="27" name="TextBox 26"/>
          <p:cNvSpPr txBox="1"/>
          <p:nvPr/>
        </p:nvSpPr>
        <p:spPr>
          <a:xfrm>
            <a:off x="822960" y="4343400"/>
            <a:ext cx="141732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1. Request</a:t>
            </a:r>
          </a:p>
        </p:txBody>
      </p:sp>
      <p:sp>
        <p:nvSpPr>
          <p:cNvPr id="28" name="TextBox 27"/>
          <p:cNvSpPr txBox="1"/>
          <p:nvPr/>
        </p:nvSpPr>
        <p:spPr>
          <a:xfrm>
            <a:off x="2240280" y="4343400"/>
            <a:ext cx="3794760" cy="411480"/>
          </a:xfrm>
          <a:prstGeom prst="rect">
            <a:avLst/>
          </a:prstGeom>
          <a:noFill/>
        </p:spPr>
        <p:txBody>
          <a:bodyPr wrap="square" lIns="36576" tIns="36576" rIns="36576" bIns="36576" anchor="t">
            <a:spAutoFit/>
          </a:bodyPr>
          <a:lstStyle/>
          <a:p>
            <a:pPr algn="l">
              <a:spcAft>
                <a:spcPts val="0"/>
              </a:spcAft>
            </a:pPr>
            <a:r>
              <a:rPr sz="1000" b="0">
                <a:solidFill>
                  <a:srgbClr val="B1BFD0"/>
                </a:solidFill>
                <a:latin typeface="Aptos"/>
              </a:rPr>
              <a:t>A user submits a form or opens a page.</a:t>
            </a:r>
          </a:p>
        </p:txBody>
      </p:sp>
      <p:sp>
        <p:nvSpPr>
          <p:cNvPr id="29" name="TextBox 28"/>
          <p:cNvSpPr txBox="1"/>
          <p:nvPr/>
        </p:nvSpPr>
        <p:spPr>
          <a:xfrm>
            <a:off x="6309360" y="4343400"/>
            <a:ext cx="141732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2. Processing</a:t>
            </a:r>
          </a:p>
        </p:txBody>
      </p:sp>
      <p:sp>
        <p:nvSpPr>
          <p:cNvPr id="30" name="TextBox 29"/>
          <p:cNvSpPr txBox="1"/>
          <p:nvPr/>
        </p:nvSpPr>
        <p:spPr>
          <a:xfrm>
            <a:off x="7726680" y="4343400"/>
            <a:ext cx="3794760" cy="411480"/>
          </a:xfrm>
          <a:prstGeom prst="rect">
            <a:avLst/>
          </a:prstGeom>
          <a:noFill/>
        </p:spPr>
        <p:txBody>
          <a:bodyPr wrap="square" lIns="36576" tIns="36576" rIns="36576" bIns="36576" anchor="t">
            <a:spAutoFit/>
          </a:bodyPr>
          <a:lstStyle/>
          <a:p>
            <a:pPr algn="l">
              <a:spcAft>
                <a:spcPts val="0"/>
              </a:spcAft>
            </a:pPr>
            <a:r>
              <a:rPr sz="1000" b="0">
                <a:solidFill>
                  <a:srgbClr val="B1BFD0"/>
                </a:solidFill>
                <a:latin typeface="Aptos"/>
              </a:rPr>
              <a:t>The application validates input and applies rules.</a:t>
            </a:r>
          </a:p>
        </p:txBody>
      </p:sp>
      <p:sp>
        <p:nvSpPr>
          <p:cNvPr id="31" name="TextBox 30"/>
          <p:cNvSpPr txBox="1"/>
          <p:nvPr/>
        </p:nvSpPr>
        <p:spPr>
          <a:xfrm>
            <a:off x="822960" y="5120640"/>
            <a:ext cx="141732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3. Database</a:t>
            </a:r>
          </a:p>
        </p:txBody>
      </p:sp>
      <p:sp>
        <p:nvSpPr>
          <p:cNvPr id="32" name="TextBox 31"/>
          <p:cNvSpPr txBox="1"/>
          <p:nvPr/>
        </p:nvSpPr>
        <p:spPr>
          <a:xfrm>
            <a:off x="2240280" y="5120640"/>
            <a:ext cx="3794760" cy="411480"/>
          </a:xfrm>
          <a:prstGeom prst="rect">
            <a:avLst/>
          </a:prstGeom>
          <a:noFill/>
        </p:spPr>
        <p:txBody>
          <a:bodyPr wrap="square" lIns="36576" tIns="36576" rIns="36576" bIns="36576" anchor="t">
            <a:spAutoFit/>
          </a:bodyPr>
          <a:lstStyle/>
          <a:p>
            <a:pPr algn="l">
              <a:spcAft>
                <a:spcPts val="0"/>
              </a:spcAft>
            </a:pPr>
            <a:r>
              <a:rPr sz="1000" b="0">
                <a:solidFill>
                  <a:srgbClr val="B1BFD0"/>
                </a:solidFill>
                <a:latin typeface="Aptos"/>
              </a:rPr>
              <a:t>SQL operations read or modify PostgreSQL records.</a:t>
            </a:r>
          </a:p>
        </p:txBody>
      </p:sp>
      <p:sp>
        <p:nvSpPr>
          <p:cNvPr id="33" name="TextBox 32"/>
          <p:cNvSpPr txBox="1"/>
          <p:nvPr/>
        </p:nvSpPr>
        <p:spPr>
          <a:xfrm>
            <a:off x="6309360" y="5120640"/>
            <a:ext cx="141732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4. Response</a:t>
            </a:r>
          </a:p>
        </p:txBody>
      </p:sp>
      <p:sp>
        <p:nvSpPr>
          <p:cNvPr id="34" name="TextBox 33"/>
          <p:cNvSpPr txBox="1"/>
          <p:nvPr/>
        </p:nvSpPr>
        <p:spPr>
          <a:xfrm>
            <a:off x="7726680" y="5120640"/>
            <a:ext cx="3794760" cy="411480"/>
          </a:xfrm>
          <a:prstGeom prst="rect">
            <a:avLst/>
          </a:prstGeom>
          <a:noFill/>
        </p:spPr>
        <p:txBody>
          <a:bodyPr wrap="square" lIns="36576" tIns="36576" rIns="36576" bIns="36576" anchor="t">
            <a:spAutoFit/>
          </a:bodyPr>
          <a:lstStyle/>
          <a:p>
            <a:pPr algn="l">
              <a:spcAft>
                <a:spcPts val="0"/>
              </a:spcAft>
            </a:pPr>
            <a:r>
              <a:rPr sz="1000" b="0">
                <a:solidFill>
                  <a:srgbClr val="B1BFD0"/>
                </a:solidFill>
                <a:latin typeface="Aptos"/>
              </a:rPr>
              <a:t>The result is displayed back in the interface.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7772400" cy="256032"/>
          </a:xfrm>
          <a:prstGeom prst="rect">
            <a:avLst/>
          </a:prstGeom>
          <a:noFill/>
        </p:spPr>
        <p:txBody>
          <a:bodyPr wrap="square" lIns="36576" tIns="36576" rIns="36576" bIns="36576" anchor="t">
            <a:spAutoFit/>
          </a:bodyPr>
          <a:lstStyle/>
          <a:p>
            <a:pPr algn="l">
              <a:spcAft>
                <a:spcPts val="0"/>
              </a:spcAft>
            </a:pPr>
            <a:r>
              <a:rPr sz="1000" b="1">
                <a:solidFill>
                  <a:srgbClr val="27BEAE"/>
                </a:solidFill>
                <a:latin typeface="Aptos"/>
              </a:rPr>
              <a:t>05 • DBMS</a:t>
            </a:r>
          </a:p>
        </p:txBody>
      </p:sp>
      <p:sp>
        <p:nvSpPr>
          <p:cNvPr id="3" name="TextBox 2"/>
          <p:cNvSpPr txBox="1"/>
          <p:nvPr/>
        </p:nvSpPr>
        <p:spPr>
          <a:xfrm>
            <a:off x="594360" y="594360"/>
            <a:ext cx="9875520" cy="502920"/>
          </a:xfrm>
          <a:prstGeom prst="rect">
            <a:avLst/>
          </a:prstGeom>
          <a:noFill/>
        </p:spPr>
        <p:txBody>
          <a:bodyPr wrap="square" lIns="36576" tIns="36576" rIns="36576" bIns="36576" anchor="t">
            <a:spAutoFit/>
          </a:bodyPr>
          <a:lstStyle/>
          <a:p>
            <a:pPr algn="l">
              <a:spcAft>
                <a:spcPts val="0"/>
              </a:spcAft>
            </a:pPr>
            <a:r>
              <a:rPr sz="2800" b="1">
                <a:solidFill>
                  <a:srgbClr val="F7FAFD"/>
                </a:solidFill>
                <a:latin typeface="Aptos"/>
              </a:rPr>
              <a:t>Database Design</a:t>
            </a:r>
          </a:p>
        </p:txBody>
      </p:sp>
      <p:sp>
        <p:nvSpPr>
          <p:cNvPr id="4" name="TextBox 3"/>
          <p:cNvSpPr txBox="1"/>
          <p:nvPr/>
        </p:nvSpPr>
        <p:spPr>
          <a:xfrm>
            <a:off x="10972800" y="320040"/>
            <a:ext cx="640080" cy="320040"/>
          </a:xfrm>
          <a:prstGeom prst="rect">
            <a:avLst/>
          </a:prstGeom>
          <a:noFill/>
        </p:spPr>
        <p:txBody>
          <a:bodyPr wrap="square" lIns="36576" tIns="36576" rIns="36576" bIns="36576" anchor="t">
            <a:spAutoFit/>
          </a:bodyPr>
          <a:lstStyle/>
          <a:p>
            <a:pPr algn="r">
              <a:spcAft>
                <a:spcPts val="0"/>
              </a:spcAft>
            </a:pPr>
            <a:r>
              <a:rPr sz="1300" b="1">
                <a:solidFill>
                  <a:srgbClr val="B1BFD0"/>
                </a:solidFill>
                <a:latin typeface="Aptos"/>
              </a:rPr>
              <a:t>06</a:t>
            </a:r>
          </a:p>
        </p:txBody>
      </p:sp>
      <p:sp>
        <p:nvSpPr>
          <p:cNvPr id="5" name="Rectangle 4"/>
          <p:cNvSpPr/>
          <p:nvPr/>
        </p:nvSpPr>
        <p:spPr>
          <a:xfrm>
            <a:off x="594360" y="1234440"/>
            <a:ext cx="594360" cy="50292"/>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9672"/>
            <a:ext cx="7772400" cy="164592"/>
          </a:xfrm>
          <a:prstGeom prst="rect">
            <a:avLst/>
          </a:prstGeom>
          <a:noFill/>
        </p:spPr>
        <p:txBody>
          <a:bodyPr wrap="square" lIns="36576" tIns="36576" rIns="36576" bIns="36576" anchor="t">
            <a:spAutoFit/>
          </a:bodyPr>
          <a:lstStyle/>
          <a:p>
            <a:pPr algn="l">
              <a:spcAft>
                <a:spcPts val="0"/>
              </a:spcAft>
            </a:pPr>
            <a:r>
              <a:rPr sz="800" b="1">
                <a:solidFill>
                  <a:srgbClr val="B1BFD0"/>
                </a:solidFill>
                <a:latin typeface="Aptos"/>
              </a:rPr>
              <a:t>FREELANCER MARKETPLACE  •  DBMS MINI PROJECT</a:t>
            </a:r>
          </a:p>
        </p:txBody>
      </p:sp>
      <p:sp>
        <p:nvSpPr>
          <p:cNvPr id="7" name="TextBox 6"/>
          <p:cNvSpPr txBox="1"/>
          <p:nvPr/>
        </p:nvSpPr>
        <p:spPr>
          <a:xfrm>
            <a:off x="731520" y="1508760"/>
            <a:ext cx="10789920" cy="411480"/>
          </a:xfrm>
          <a:prstGeom prst="rect">
            <a:avLst/>
          </a:prstGeom>
          <a:noFill/>
        </p:spPr>
        <p:txBody>
          <a:bodyPr wrap="square" lIns="36576" tIns="36576" rIns="36576" bIns="36576" anchor="t">
            <a:spAutoFit/>
          </a:bodyPr>
          <a:lstStyle/>
          <a:p>
            <a:pPr algn="l">
              <a:spcAft>
                <a:spcPts val="0"/>
              </a:spcAft>
            </a:pPr>
            <a:r>
              <a:rPr sz="1700" b="1">
                <a:solidFill>
                  <a:srgbClr val="27BEAE"/>
                </a:solidFill>
                <a:latin typeface="Aptos"/>
              </a:rPr>
              <a:t>Logical entities for a freelancer marketplace</a:t>
            </a:r>
          </a:p>
        </p:txBody>
      </p:sp>
      <p:sp>
        <p:nvSpPr>
          <p:cNvPr id="8" name="Rounded Rectangle 7"/>
          <p:cNvSpPr/>
          <p:nvPr/>
        </p:nvSpPr>
        <p:spPr>
          <a:xfrm>
            <a:off x="685800" y="2148840"/>
            <a:ext cx="2560320" cy="1115568"/>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2148840"/>
            <a:ext cx="2560320" cy="54864"/>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350008"/>
            <a:ext cx="228600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USERS</a:t>
            </a:r>
          </a:p>
        </p:txBody>
      </p:sp>
      <p:sp>
        <p:nvSpPr>
          <p:cNvPr id="11" name="TextBox 10"/>
          <p:cNvSpPr txBox="1"/>
          <p:nvPr/>
        </p:nvSpPr>
        <p:spPr>
          <a:xfrm>
            <a:off x="822960" y="2715768"/>
            <a:ext cx="2286000" cy="384048"/>
          </a:xfrm>
          <a:prstGeom prst="rect">
            <a:avLst/>
          </a:prstGeom>
          <a:noFill/>
        </p:spPr>
        <p:txBody>
          <a:bodyPr wrap="square" lIns="36576" tIns="36576" rIns="36576" bIns="36576" anchor="t">
            <a:spAutoFit/>
          </a:bodyPr>
          <a:lstStyle/>
          <a:p>
            <a:pPr algn="l">
              <a:spcAft>
                <a:spcPts val="0"/>
              </a:spcAft>
            </a:pPr>
            <a:r>
              <a:rPr sz="900" b="0">
                <a:solidFill>
                  <a:srgbClr val="B1BFD0"/>
                </a:solidFill>
                <a:latin typeface="Aptos"/>
              </a:rPr>
              <a:t>Account and profile information</a:t>
            </a:r>
          </a:p>
        </p:txBody>
      </p:sp>
      <p:sp>
        <p:nvSpPr>
          <p:cNvPr id="12" name="Rounded Rectangle 11"/>
          <p:cNvSpPr/>
          <p:nvPr/>
        </p:nvSpPr>
        <p:spPr>
          <a:xfrm>
            <a:off x="3566160" y="2148840"/>
            <a:ext cx="2560320" cy="1115568"/>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66160" y="2148840"/>
            <a:ext cx="2560320" cy="54864"/>
          </a:xfrm>
          <a:prstGeom prst="rect">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03320" y="2350008"/>
            <a:ext cx="228600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CLIENTS</a:t>
            </a:r>
          </a:p>
        </p:txBody>
      </p:sp>
      <p:sp>
        <p:nvSpPr>
          <p:cNvPr id="15" name="TextBox 14"/>
          <p:cNvSpPr txBox="1"/>
          <p:nvPr/>
        </p:nvSpPr>
        <p:spPr>
          <a:xfrm>
            <a:off x="3703320" y="2715768"/>
            <a:ext cx="2286000" cy="384048"/>
          </a:xfrm>
          <a:prstGeom prst="rect">
            <a:avLst/>
          </a:prstGeom>
          <a:noFill/>
        </p:spPr>
        <p:txBody>
          <a:bodyPr wrap="square" lIns="36576" tIns="36576" rIns="36576" bIns="36576" anchor="t">
            <a:spAutoFit/>
          </a:bodyPr>
          <a:lstStyle/>
          <a:p>
            <a:pPr algn="l">
              <a:spcAft>
                <a:spcPts val="0"/>
              </a:spcAft>
            </a:pPr>
            <a:r>
              <a:rPr sz="900" b="0">
                <a:solidFill>
                  <a:srgbClr val="B1BFD0"/>
                </a:solidFill>
                <a:latin typeface="Aptos"/>
              </a:rPr>
              <a:t>Client-side profile / ownership</a:t>
            </a:r>
          </a:p>
        </p:txBody>
      </p:sp>
      <p:sp>
        <p:nvSpPr>
          <p:cNvPr id="16" name="Rounded Rectangle 15"/>
          <p:cNvSpPr/>
          <p:nvPr/>
        </p:nvSpPr>
        <p:spPr>
          <a:xfrm>
            <a:off x="6446520" y="2148840"/>
            <a:ext cx="2560320" cy="1115568"/>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46520" y="2148840"/>
            <a:ext cx="2560320" cy="54864"/>
          </a:xfrm>
          <a:prstGeom prst="rect">
            <a:avLst/>
          </a:prstGeom>
          <a:solidFill>
            <a:srgbClr val="A2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0" y="2350008"/>
            <a:ext cx="228600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FREELANCERS</a:t>
            </a:r>
          </a:p>
        </p:txBody>
      </p:sp>
      <p:sp>
        <p:nvSpPr>
          <p:cNvPr id="19" name="TextBox 18"/>
          <p:cNvSpPr txBox="1"/>
          <p:nvPr/>
        </p:nvSpPr>
        <p:spPr>
          <a:xfrm>
            <a:off x="6583680" y="2715768"/>
            <a:ext cx="2286000" cy="384048"/>
          </a:xfrm>
          <a:prstGeom prst="rect">
            <a:avLst/>
          </a:prstGeom>
          <a:noFill/>
        </p:spPr>
        <p:txBody>
          <a:bodyPr wrap="square" lIns="36576" tIns="36576" rIns="36576" bIns="36576" anchor="t">
            <a:spAutoFit/>
          </a:bodyPr>
          <a:lstStyle/>
          <a:p>
            <a:pPr algn="l">
              <a:spcAft>
                <a:spcPts val="0"/>
              </a:spcAft>
            </a:pPr>
            <a:r>
              <a:rPr sz="900" b="0">
                <a:solidFill>
                  <a:srgbClr val="B1BFD0"/>
                </a:solidFill>
                <a:latin typeface="Aptos"/>
              </a:rPr>
              <a:t>Freelancer profile and details</a:t>
            </a:r>
          </a:p>
        </p:txBody>
      </p:sp>
      <p:sp>
        <p:nvSpPr>
          <p:cNvPr id="20" name="Rounded Rectangle 19"/>
          <p:cNvSpPr/>
          <p:nvPr/>
        </p:nvSpPr>
        <p:spPr>
          <a:xfrm>
            <a:off x="9326880" y="2148840"/>
            <a:ext cx="2560320" cy="1115568"/>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326880" y="2148840"/>
            <a:ext cx="2560320" cy="54864"/>
          </a:xfrm>
          <a:prstGeom prst="rect">
            <a:avLst/>
          </a:prstGeom>
          <a:solidFill>
            <a:srgbClr val="6CD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64040" y="2350008"/>
            <a:ext cx="228600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PROJECTS</a:t>
            </a:r>
          </a:p>
        </p:txBody>
      </p:sp>
      <p:sp>
        <p:nvSpPr>
          <p:cNvPr id="23" name="TextBox 22"/>
          <p:cNvSpPr txBox="1"/>
          <p:nvPr/>
        </p:nvSpPr>
        <p:spPr>
          <a:xfrm>
            <a:off x="9464040" y="2715768"/>
            <a:ext cx="2286000" cy="384048"/>
          </a:xfrm>
          <a:prstGeom prst="rect">
            <a:avLst/>
          </a:prstGeom>
          <a:noFill/>
        </p:spPr>
        <p:txBody>
          <a:bodyPr wrap="square" lIns="36576" tIns="36576" rIns="36576" bIns="36576" anchor="t">
            <a:spAutoFit/>
          </a:bodyPr>
          <a:lstStyle/>
          <a:p>
            <a:pPr algn="l">
              <a:spcAft>
                <a:spcPts val="0"/>
              </a:spcAft>
            </a:pPr>
            <a:r>
              <a:rPr sz="900" b="0">
                <a:solidFill>
                  <a:srgbClr val="B1BFD0"/>
                </a:solidFill>
                <a:latin typeface="Aptos"/>
              </a:rPr>
              <a:t>Project description, budget and status</a:t>
            </a:r>
          </a:p>
        </p:txBody>
      </p:sp>
      <p:sp>
        <p:nvSpPr>
          <p:cNvPr id="24" name="Rounded Rectangle 23"/>
          <p:cNvSpPr/>
          <p:nvPr/>
        </p:nvSpPr>
        <p:spPr>
          <a:xfrm>
            <a:off x="685800" y="3611880"/>
            <a:ext cx="2560320" cy="1115568"/>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85800" y="3611880"/>
            <a:ext cx="2560320" cy="54864"/>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3813048"/>
            <a:ext cx="228600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BIDS</a:t>
            </a:r>
          </a:p>
        </p:txBody>
      </p:sp>
      <p:sp>
        <p:nvSpPr>
          <p:cNvPr id="27" name="TextBox 26"/>
          <p:cNvSpPr txBox="1"/>
          <p:nvPr/>
        </p:nvSpPr>
        <p:spPr>
          <a:xfrm>
            <a:off x="822960" y="4178808"/>
            <a:ext cx="2286000" cy="384048"/>
          </a:xfrm>
          <a:prstGeom prst="rect">
            <a:avLst/>
          </a:prstGeom>
          <a:noFill/>
        </p:spPr>
        <p:txBody>
          <a:bodyPr wrap="square" lIns="36576" tIns="36576" rIns="36576" bIns="36576" anchor="t">
            <a:spAutoFit/>
          </a:bodyPr>
          <a:lstStyle/>
          <a:p>
            <a:pPr algn="l">
              <a:spcAft>
                <a:spcPts val="0"/>
              </a:spcAft>
            </a:pPr>
            <a:r>
              <a:rPr sz="900" b="0">
                <a:solidFill>
                  <a:srgbClr val="B1BFD0"/>
                </a:solidFill>
                <a:latin typeface="Aptos"/>
              </a:rPr>
              <a:t>Freelancer proposals for projects</a:t>
            </a:r>
          </a:p>
        </p:txBody>
      </p:sp>
      <p:sp>
        <p:nvSpPr>
          <p:cNvPr id="28" name="Rounded Rectangle 27"/>
          <p:cNvSpPr/>
          <p:nvPr/>
        </p:nvSpPr>
        <p:spPr>
          <a:xfrm>
            <a:off x="3566160" y="3611880"/>
            <a:ext cx="2560320" cy="1115568"/>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566160" y="3611880"/>
            <a:ext cx="2560320" cy="54864"/>
          </a:xfrm>
          <a:prstGeom prst="rect">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03320" y="3813048"/>
            <a:ext cx="228600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SKILLS</a:t>
            </a:r>
          </a:p>
        </p:txBody>
      </p:sp>
      <p:sp>
        <p:nvSpPr>
          <p:cNvPr id="31" name="TextBox 30"/>
          <p:cNvSpPr txBox="1"/>
          <p:nvPr/>
        </p:nvSpPr>
        <p:spPr>
          <a:xfrm>
            <a:off x="3703320" y="4178808"/>
            <a:ext cx="2286000" cy="384048"/>
          </a:xfrm>
          <a:prstGeom prst="rect">
            <a:avLst/>
          </a:prstGeom>
          <a:noFill/>
        </p:spPr>
        <p:txBody>
          <a:bodyPr wrap="square" lIns="36576" tIns="36576" rIns="36576" bIns="36576" anchor="t">
            <a:spAutoFit/>
          </a:bodyPr>
          <a:lstStyle/>
          <a:p>
            <a:pPr algn="l">
              <a:spcAft>
                <a:spcPts val="0"/>
              </a:spcAft>
            </a:pPr>
            <a:r>
              <a:rPr sz="900" b="0">
                <a:solidFill>
                  <a:srgbClr val="B1BFD0"/>
                </a:solidFill>
                <a:latin typeface="Aptos"/>
              </a:rPr>
              <a:t>Skill catalogue and expertise mapping</a:t>
            </a:r>
          </a:p>
        </p:txBody>
      </p:sp>
      <p:sp>
        <p:nvSpPr>
          <p:cNvPr id="32" name="Rounded Rectangle 31"/>
          <p:cNvSpPr/>
          <p:nvPr/>
        </p:nvSpPr>
        <p:spPr>
          <a:xfrm>
            <a:off x="6446520" y="3611880"/>
            <a:ext cx="2560320" cy="1115568"/>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46520" y="3611880"/>
            <a:ext cx="2560320" cy="54864"/>
          </a:xfrm>
          <a:prstGeom prst="rect">
            <a:avLst/>
          </a:prstGeom>
          <a:solidFill>
            <a:srgbClr val="A2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83680" y="3813048"/>
            <a:ext cx="228600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PAYMENTS</a:t>
            </a:r>
          </a:p>
        </p:txBody>
      </p:sp>
      <p:sp>
        <p:nvSpPr>
          <p:cNvPr id="35" name="TextBox 34"/>
          <p:cNvSpPr txBox="1"/>
          <p:nvPr/>
        </p:nvSpPr>
        <p:spPr>
          <a:xfrm>
            <a:off x="6583680" y="4178808"/>
            <a:ext cx="2286000" cy="384048"/>
          </a:xfrm>
          <a:prstGeom prst="rect">
            <a:avLst/>
          </a:prstGeom>
          <a:noFill/>
        </p:spPr>
        <p:txBody>
          <a:bodyPr wrap="square" lIns="36576" tIns="36576" rIns="36576" bIns="36576" anchor="t">
            <a:spAutoFit/>
          </a:bodyPr>
          <a:lstStyle/>
          <a:p>
            <a:pPr algn="l">
              <a:spcAft>
                <a:spcPts val="0"/>
              </a:spcAft>
            </a:pPr>
            <a:r>
              <a:rPr sz="900" b="0">
                <a:solidFill>
                  <a:srgbClr val="B1BFD0"/>
                </a:solidFill>
                <a:latin typeface="Aptos"/>
              </a:rPr>
              <a:t>Payment / transaction records</a:t>
            </a:r>
          </a:p>
        </p:txBody>
      </p:sp>
      <p:sp>
        <p:nvSpPr>
          <p:cNvPr id="36" name="Rounded Rectangle 35"/>
          <p:cNvSpPr/>
          <p:nvPr/>
        </p:nvSpPr>
        <p:spPr>
          <a:xfrm>
            <a:off x="9326880" y="3611880"/>
            <a:ext cx="2560320" cy="1115568"/>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326880" y="3611880"/>
            <a:ext cx="2560320" cy="54864"/>
          </a:xfrm>
          <a:prstGeom prst="rect">
            <a:avLst/>
          </a:prstGeom>
          <a:solidFill>
            <a:srgbClr val="6CD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64040" y="3813048"/>
            <a:ext cx="2286000" cy="256032"/>
          </a:xfrm>
          <a:prstGeom prst="rect">
            <a:avLst/>
          </a:prstGeom>
          <a:noFill/>
        </p:spPr>
        <p:txBody>
          <a:bodyPr wrap="square" lIns="36576" tIns="36576" rIns="36576" bIns="36576" anchor="t">
            <a:spAutoFit/>
          </a:bodyPr>
          <a:lstStyle/>
          <a:p>
            <a:pPr algn="l">
              <a:spcAft>
                <a:spcPts val="0"/>
              </a:spcAft>
            </a:pPr>
            <a:r>
              <a:rPr sz="1200" b="1">
                <a:solidFill>
                  <a:srgbClr val="F7FAFD"/>
                </a:solidFill>
                <a:latin typeface="Aptos"/>
              </a:rPr>
              <a:t>REVIEWS</a:t>
            </a:r>
          </a:p>
        </p:txBody>
      </p:sp>
      <p:sp>
        <p:nvSpPr>
          <p:cNvPr id="39" name="TextBox 38"/>
          <p:cNvSpPr txBox="1"/>
          <p:nvPr/>
        </p:nvSpPr>
        <p:spPr>
          <a:xfrm>
            <a:off x="9464040" y="4178808"/>
            <a:ext cx="2286000" cy="384048"/>
          </a:xfrm>
          <a:prstGeom prst="rect">
            <a:avLst/>
          </a:prstGeom>
          <a:noFill/>
        </p:spPr>
        <p:txBody>
          <a:bodyPr wrap="square" lIns="36576" tIns="36576" rIns="36576" bIns="36576" anchor="t">
            <a:spAutoFit/>
          </a:bodyPr>
          <a:lstStyle/>
          <a:p>
            <a:pPr algn="l">
              <a:spcAft>
                <a:spcPts val="0"/>
              </a:spcAft>
            </a:pPr>
            <a:r>
              <a:rPr sz="900" b="0">
                <a:solidFill>
                  <a:srgbClr val="B1BFD0"/>
                </a:solidFill>
                <a:latin typeface="Aptos"/>
              </a:rPr>
              <a:t>Ratings and feedback records</a:t>
            </a:r>
          </a:p>
        </p:txBody>
      </p:sp>
      <p:sp>
        <p:nvSpPr>
          <p:cNvPr id="40" name="TextBox 39"/>
          <p:cNvSpPr txBox="1"/>
          <p:nvPr/>
        </p:nvSpPr>
        <p:spPr>
          <a:xfrm>
            <a:off x="777240" y="5440680"/>
            <a:ext cx="10607040" cy="566928"/>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Use primary keys to identify records and foreign keys to connect related entities. Match these logical entities to the exact tables in your implemented schema.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7772400" cy="256032"/>
          </a:xfrm>
          <a:prstGeom prst="rect">
            <a:avLst/>
          </a:prstGeom>
          <a:noFill/>
        </p:spPr>
        <p:txBody>
          <a:bodyPr wrap="square" lIns="36576" tIns="36576" rIns="36576" bIns="36576" anchor="t">
            <a:spAutoFit/>
          </a:bodyPr>
          <a:lstStyle/>
          <a:p>
            <a:pPr algn="l">
              <a:spcAft>
                <a:spcPts val="0"/>
              </a:spcAft>
            </a:pPr>
            <a:r>
              <a:rPr sz="1000" b="1">
                <a:solidFill>
                  <a:srgbClr val="27BEAE"/>
                </a:solidFill>
                <a:latin typeface="Aptos"/>
              </a:rPr>
              <a:t>06 • FUNCTIONALITY</a:t>
            </a:r>
          </a:p>
        </p:txBody>
      </p:sp>
      <p:sp>
        <p:nvSpPr>
          <p:cNvPr id="3" name="TextBox 2"/>
          <p:cNvSpPr txBox="1"/>
          <p:nvPr/>
        </p:nvSpPr>
        <p:spPr>
          <a:xfrm>
            <a:off x="594360" y="594360"/>
            <a:ext cx="9875520" cy="502920"/>
          </a:xfrm>
          <a:prstGeom prst="rect">
            <a:avLst/>
          </a:prstGeom>
          <a:noFill/>
        </p:spPr>
        <p:txBody>
          <a:bodyPr wrap="square" lIns="36576" tIns="36576" rIns="36576" bIns="36576" anchor="t">
            <a:spAutoFit/>
          </a:bodyPr>
          <a:lstStyle/>
          <a:p>
            <a:pPr algn="l">
              <a:spcAft>
                <a:spcPts val="0"/>
              </a:spcAft>
            </a:pPr>
            <a:r>
              <a:rPr sz="2800" b="1">
                <a:solidFill>
                  <a:srgbClr val="F7FAFD"/>
                </a:solidFill>
                <a:latin typeface="Aptos"/>
              </a:rPr>
              <a:t>Main Features</a:t>
            </a:r>
          </a:p>
        </p:txBody>
      </p:sp>
      <p:sp>
        <p:nvSpPr>
          <p:cNvPr id="4" name="TextBox 3"/>
          <p:cNvSpPr txBox="1"/>
          <p:nvPr/>
        </p:nvSpPr>
        <p:spPr>
          <a:xfrm>
            <a:off x="10972800" y="320040"/>
            <a:ext cx="640080" cy="320040"/>
          </a:xfrm>
          <a:prstGeom prst="rect">
            <a:avLst/>
          </a:prstGeom>
          <a:noFill/>
        </p:spPr>
        <p:txBody>
          <a:bodyPr wrap="square" lIns="36576" tIns="36576" rIns="36576" bIns="36576" anchor="t">
            <a:spAutoFit/>
          </a:bodyPr>
          <a:lstStyle/>
          <a:p>
            <a:pPr algn="r">
              <a:spcAft>
                <a:spcPts val="0"/>
              </a:spcAft>
            </a:pPr>
            <a:r>
              <a:rPr sz="1300" b="1">
                <a:solidFill>
                  <a:srgbClr val="B1BFD0"/>
                </a:solidFill>
                <a:latin typeface="Aptos"/>
              </a:rPr>
              <a:t>07</a:t>
            </a:r>
          </a:p>
        </p:txBody>
      </p:sp>
      <p:sp>
        <p:nvSpPr>
          <p:cNvPr id="5" name="Rectangle 4"/>
          <p:cNvSpPr/>
          <p:nvPr/>
        </p:nvSpPr>
        <p:spPr>
          <a:xfrm>
            <a:off x="594360" y="1234440"/>
            <a:ext cx="594360" cy="50292"/>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9672"/>
            <a:ext cx="7772400" cy="164592"/>
          </a:xfrm>
          <a:prstGeom prst="rect">
            <a:avLst/>
          </a:prstGeom>
          <a:noFill/>
        </p:spPr>
        <p:txBody>
          <a:bodyPr wrap="square" lIns="36576" tIns="36576" rIns="36576" bIns="36576" anchor="t">
            <a:spAutoFit/>
          </a:bodyPr>
          <a:lstStyle/>
          <a:p>
            <a:pPr algn="l">
              <a:spcAft>
                <a:spcPts val="0"/>
              </a:spcAft>
            </a:pPr>
            <a:r>
              <a:rPr sz="800" b="1">
                <a:solidFill>
                  <a:srgbClr val="B1BFD0"/>
                </a:solidFill>
                <a:latin typeface="Aptos"/>
              </a:rPr>
              <a:t>FREELANCER MARKETPLACE  •  DBMS MINI PROJECT</a:t>
            </a:r>
          </a:p>
        </p:txBody>
      </p:sp>
      <p:sp>
        <p:nvSpPr>
          <p:cNvPr id="7" name="Rounded Rectangle 6"/>
          <p:cNvSpPr/>
          <p:nvPr/>
        </p:nvSpPr>
        <p:spPr>
          <a:xfrm>
            <a:off x="777240" y="1572768"/>
            <a:ext cx="5166360" cy="114300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572768"/>
            <a:ext cx="64008" cy="1143000"/>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1737360"/>
            <a:ext cx="478231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Profile Management</a:t>
            </a:r>
          </a:p>
        </p:txBody>
      </p:sp>
      <p:sp>
        <p:nvSpPr>
          <p:cNvPr id="10" name="TextBox 9"/>
          <p:cNvSpPr txBox="1"/>
          <p:nvPr/>
        </p:nvSpPr>
        <p:spPr>
          <a:xfrm>
            <a:off x="978408" y="2194560"/>
            <a:ext cx="4782312" cy="39319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Maintain client and freelancer information.</a:t>
            </a:r>
          </a:p>
        </p:txBody>
      </p:sp>
      <p:sp>
        <p:nvSpPr>
          <p:cNvPr id="11" name="Rounded Rectangle 10"/>
          <p:cNvSpPr/>
          <p:nvPr/>
        </p:nvSpPr>
        <p:spPr>
          <a:xfrm>
            <a:off x="6355079" y="1572768"/>
            <a:ext cx="5166360" cy="114300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55079" y="1572768"/>
            <a:ext cx="64008" cy="1143000"/>
          </a:xfrm>
          <a:prstGeom prst="rect">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56247" y="1737360"/>
            <a:ext cx="478231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Project Listings</a:t>
            </a:r>
          </a:p>
        </p:txBody>
      </p:sp>
      <p:sp>
        <p:nvSpPr>
          <p:cNvPr id="14" name="TextBox 13"/>
          <p:cNvSpPr txBox="1"/>
          <p:nvPr/>
        </p:nvSpPr>
        <p:spPr>
          <a:xfrm>
            <a:off x="6556247" y="2194560"/>
            <a:ext cx="4782312" cy="39319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Store and display project requirements.</a:t>
            </a:r>
          </a:p>
        </p:txBody>
      </p:sp>
      <p:sp>
        <p:nvSpPr>
          <p:cNvPr id="15" name="Rounded Rectangle 14"/>
          <p:cNvSpPr/>
          <p:nvPr/>
        </p:nvSpPr>
        <p:spPr>
          <a:xfrm>
            <a:off x="777240" y="2990088"/>
            <a:ext cx="5166360" cy="114300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2990088"/>
            <a:ext cx="64008" cy="1143000"/>
          </a:xfrm>
          <a:prstGeom prst="rect">
            <a:avLst/>
          </a:prstGeom>
          <a:solidFill>
            <a:srgbClr val="A2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 y="3154680"/>
            <a:ext cx="478231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Bidding</a:t>
            </a:r>
          </a:p>
        </p:txBody>
      </p:sp>
      <p:sp>
        <p:nvSpPr>
          <p:cNvPr id="18" name="TextBox 17"/>
          <p:cNvSpPr txBox="1"/>
          <p:nvPr/>
        </p:nvSpPr>
        <p:spPr>
          <a:xfrm>
            <a:off x="978408" y="3611880"/>
            <a:ext cx="4782312" cy="39319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Record proposals linked to projects and freelancers.</a:t>
            </a:r>
          </a:p>
        </p:txBody>
      </p:sp>
      <p:sp>
        <p:nvSpPr>
          <p:cNvPr id="19" name="Rounded Rectangle 18"/>
          <p:cNvSpPr/>
          <p:nvPr/>
        </p:nvSpPr>
        <p:spPr>
          <a:xfrm>
            <a:off x="6355079" y="2990088"/>
            <a:ext cx="5166360" cy="114300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355079" y="2990088"/>
            <a:ext cx="64008" cy="1143000"/>
          </a:xfrm>
          <a:prstGeom prst="rect">
            <a:avLst/>
          </a:prstGeom>
          <a:solidFill>
            <a:srgbClr val="6CD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56247" y="3154680"/>
            <a:ext cx="478231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Skill Mapping</a:t>
            </a:r>
          </a:p>
        </p:txBody>
      </p:sp>
      <p:sp>
        <p:nvSpPr>
          <p:cNvPr id="22" name="TextBox 21"/>
          <p:cNvSpPr txBox="1"/>
          <p:nvPr/>
        </p:nvSpPr>
        <p:spPr>
          <a:xfrm>
            <a:off x="6556247" y="3611880"/>
            <a:ext cx="4782312" cy="39319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Associate freelancers with one or more skills.</a:t>
            </a:r>
          </a:p>
        </p:txBody>
      </p:sp>
      <p:sp>
        <p:nvSpPr>
          <p:cNvPr id="23" name="Rounded Rectangle 22"/>
          <p:cNvSpPr/>
          <p:nvPr/>
        </p:nvSpPr>
        <p:spPr>
          <a:xfrm>
            <a:off x="777240" y="4407408"/>
            <a:ext cx="5166360" cy="114300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77240" y="4407408"/>
            <a:ext cx="64008" cy="1143000"/>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8408" y="4572000"/>
            <a:ext cx="478231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Payments &amp; Reviews</a:t>
            </a:r>
          </a:p>
        </p:txBody>
      </p:sp>
      <p:sp>
        <p:nvSpPr>
          <p:cNvPr id="26" name="TextBox 25"/>
          <p:cNvSpPr txBox="1"/>
          <p:nvPr/>
        </p:nvSpPr>
        <p:spPr>
          <a:xfrm>
            <a:off x="978408" y="5029200"/>
            <a:ext cx="4782312" cy="39319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Keep structured records of transactions and feedback.</a:t>
            </a:r>
          </a:p>
        </p:txBody>
      </p:sp>
      <p:sp>
        <p:nvSpPr>
          <p:cNvPr id="27" name="Rounded Rectangle 26"/>
          <p:cNvSpPr/>
          <p:nvPr/>
        </p:nvSpPr>
        <p:spPr>
          <a:xfrm>
            <a:off x="6355079" y="4407408"/>
            <a:ext cx="5166360" cy="114300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55079" y="4407408"/>
            <a:ext cx="64008" cy="1143000"/>
          </a:xfrm>
          <a:prstGeom prst="rect">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56247" y="4572000"/>
            <a:ext cx="4782312" cy="347472"/>
          </a:xfrm>
          <a:prstGeom prst="rect">
            <a:avLst/>
          </a:prstGeom>
          <a:noFill/>
        </p:spPr>
        <p:txBody>
          <a:bodyPr wrap="square" lIns="36576" tIns="36576" rIns="36576" bIns="36576" anchor="t">
            <a:spAutoFit/>
          </a:bodyPr>
          <a:lstStyle/>
          <a:p>
            <a:pPr algn="l">
              <a:spcAft>
                <a:spcPts val="0"/>
              </a:spcAft>
            </a:pPr>
            <a:r>
              <a:rPr sz="1500" b="1">
                <a:solidFill>
                  <a:srgbClr val="F7FAFD"/>
                </a:solidFill>
                <a:latin typeface="Aptos"/>
              </a:rPr>
              <a:t>Persistent Storage</a:t>
            </a:r>
          </a:p>
        </p:txBody>
      </p:sp>
      <p:sp>
        <p:nvSpPr>
          <p:cNvPr id="30" name="TextBox 29"/>
          <p:cNvSpPr txBox="1"/>
          <p:nvPr/>
        </p:nvSpPr>
        <p:spPr>
          <a:xfrm>
            <a:off x="6556247" y="5029200"/>
            <a:ext cx="4782312" cy="393192"/>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Store data in PostgreSQL rather than temporary page state.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7772400" cy="256032"/>
          </a:xfrm>
          <a:prstGeom prst="rect">
            <a:avLst/>
          </a:prstGeom>
          <a:noFill/>
        </p:spPr>
        <p:txBody>
          <a:bodyPr wrap="square" lIns="36576" tIns="36576" rIns="36576" bIns="36576" anchor="t">
            <a:spAutoFit/>
          </a:bodyPr>
          <a:lstStyle/>
          <a:p>
            <a:pPr algn="l">
              <a:spcAft>
                <a:spcPts val="0"/>
              </a:spcAft>
            </a:pPr>
            <a:r>
              <a:rPr sz="1000" b="1">
                <a:solidFill>
                  <a:srgbClr val="27BEAE"/>
                </a:solidFill>
                <a:latin typeface="Aptos"/>
              </a:rPr>
              <a:t>07 • USER FLOW</a:t>
            </a:r>
          </a:p>
        </p:txBody>
      </p:sp>
      <p:sp>
        <p:nvSpPr>
          <p:cNvPr id="3" name="TextBox 2"/>
          <p:cNvSpPr txBox="1"/>
          <p:nvPr/>
        </p:nvSpPr>
        <p:spPr>
          <a:xfrm>
            <a:off x="594360" y="594360"/>
            <a:ext cx="9875520" cy="502920"/>
          </a:xfrm>
          <a:prstGeom prst="rect">
            <a:avLst/>
          </a:prstGeom>
          <a:noFill/>
        </p:spPr>
        <p:txBody>
          <a:bodyPr wrap="square" lIns="36576" tIns="36576" rIns="36576" bIns="36576" anchor="t">
            <a:spAutoFit/>
          </a:bodyPr>
          <a:lstStyle/>
          <a:p>
            <a:pPr algn="l">
              <a:spcAft>
                <a:spcPts val="0"/>
              </a:spcAft>
            </a:pPr>
            <a:r>
              <a:rPr sz="2800" b="1">
                <a:solidFill>
                  <a:srgbClr val="F7FAFD"/>
                </a:solidFill>
                <a:latin typeface="Aptos"/>
              </a:rPr>
              <a:t>Application Workflow</a:t>
            </a:r>
          </a:p>
        </p:txBody>
      </p:sp>
      <p:sp>
        <p:nvSpPr>
          <p:cNvPr id="4" name="TextBox 3"/>
          <p:cNvSpPr txBox="1"/>
          <p:nvPr/>
        </p:nvSpPr>
        <p:spPr>
          <a:xfrm>
            <a:off x="10972800" y="320040"/>
            <a:ext cx="640080" cy="320040"/>
          </a:xfrm>
          <a:prstGeom prst="rect">
            <a:avLst/>
          </a:prstGeom>
          <a:noFill/>
        </p:spPr>
        <p:txBody>
          <a:bodyPr wrap="square" lIns="36576" tIns="36576" rIns="36576" bIns="36576" anchor="t">
            <a:spAutoFit/>
          </a:bodyPr>
          <a:lstStyle/>
          <a:p>
            <a:pPr algn="r">
              <a:spcAft>
                <a:spcPts val="0"/>
              </a:spcAft>
            </a:pPr>
            <a:r>
              <a:rPr sz="1300" b="1">
                <a:solidFill>
                  <a:srgbClr val="B1BFD0"/>
                </a:solidFill>
                <a:latin typeface="Aptos"/>
              </a:rPr>
              <a:t>08</a:t>
            </a:r>
          </a:p>
        </p:txBody>
      </p:sp>
      <p:sp>
        <p:nvSpPr>
          <p:cNvPr id="5" name="Rectangle 4"/>
          <p:cNvSpPr/>
          <p:nvPr/>
        </p:nvSpPr>
        <p:spPr>
          <a:xfrm>
            <a:off x="594360" y="1234440"/>
            <a:ext cx="594360" cy="50292"/>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9672"/>
            <a:ext cx="7772400" cy="164592"/>
          </a:xfrm>
          <a:prstGeom prst="rect">
            <a:avLst/>
          </a:prstGeom>
          <a:noFill/>
        </p:spPr>
        <p:txBody>
          <a:bodyPr wrap="square" lIns="36576" tIns="36576" rIns="36576" bIns="36576" anchor="t">
            <a:spAutoFit/>
          </a:bodyPr>
          <a:lstStyle/>
          <a:p>
            <a:pPr algn="l">
              <a:spcAft>
                <a:spcPts val="0"/>
              </a:spcAft>
            </a:pPr>
            <a:r>
              <a:rPr sz="800" b="1">
                <a:solidFill>
                  <a:srgbClr val="B1BFD0"/>
                </a:solidFill>
                <a:latin typeface="Aptos"/>
              </a:rPr>
              <a:t>FREELANCER MARKETPLACE  •  DBMS MINI PROJECT</a:t>
            </a:r>
          </a:p>
        </p:txBody>
      </p:sp>
      <p:sp>
        <p:nvSpPr>
          <p:cNvPr id="7" name="Oval 6"/>
          <p:cNvSpPr/>
          <p:nvPr/>
        </p:nvSpPr>
        <p:spPr>
          <a:xfrm>
            <a:off x="868680" y="1563624"/>
            <a:ext cx="475488" cy="475488"/>
          </a:xfrm>
          <a:prstGeom prst="ellipse">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682495"/>
            <a:ext cx="475488" cy="146304"/>
          </a:xfrm>
          <a:prstGeom prst="rect">
            <a:avLst/>
          </a:prstGeom>
          <a:noFill/>
        </p:spPr>
        <p:txBody>
          <a:bodyPr wrap="square" lIns="36576" tIns="36576" rIns="36576" bIns="36576" anchor="t">
            <a:spAutoFit/>
          </a:bodyPr>
          <a:lstStyle/>
          <a:p>
            <a:pPr algn="ctr">
              <a:spcAft>
                <a:spcPts val="0"/>
              </a:spcAft>
            </a:pPr>
            <a:r>
              <a:rPr sz="1000" b="1">
                <a:solidFill>
                  <a:srgbClr val="101C30"/>
                </a:solidFill>
                <a:latin typeface="Aptos"/>
              </a:rPr>
              <a:t>01</a:t>
            </a:r>
          </a:p>
        </p:txBody>
      </p:sp>
      <p:sp>
        <p:nvSpPr>
          <p:cNvPr id="9" name="TextBox 8"/>
          <p:cNvSpPr txBox="1"/>
          <p:nvPr/>
        </p:nvSpPr>
        <p:spPr>
          <a:xfrm>
            <a:off x="1600200" y="1536192"/>
            <a:ext cx="3108960" cy="256032"/>
          </a:xfrm>
          <a:prstGeom prst="rect">
            <a:avLst/>
          </a:prstGeom>
          <a:noFill/>
        </p:spPr>
        <p:txBody>
          <a:bodyPr wrap="square" lIns="36576" tIns="36576" rIns="36576" bIns="36576" anchor="t">
            <a:spAutoFit/>
          </a:bodyPr>
          <a:lstStyle/>
          <a:p>
            <a:pPr algn="l">
              <a:spcAft>
                <a:spcPts val="0"/>
              </a:spcAft>
            </a:pPr>
            <a:r>
              <a:rPr sz="1300" b="1">
                <a:solidFill>
                  <a:srgbClr val="F7FAFD"/>
                </a:solidFill>
                <a:latin typeface="Aptos"/>
              </a:rPr>
              <a:t>REGISTER / SIGN IN</a:t>
            </a:r>
          </a:p>
        </p:txBody>
      </p:sp>
      <p:sp>
        <p:nvSpPr>
          <p:cNvPr id="10" name="TextBox 9"/>
          <p:cNvSpPr txBox="1"/>
          <p:nvPr/>
        </p:nvSpPr>
        <p:spPr>
          <a:xfrm>
            <a:off x="4663440" y="1536192"/>
            <a:ext cx="6309360" cy="365760"/>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User accesses the platform.</a:t>
            </a:r>
          </a:p>
        </p:txBody>
      </p:sp>
      <p:sp>
        <p:nvSpPr>
          <p:cNvPr id="11" name="Rectangle 10"/>
          <p:cNvSpPr/>
          <p:nvPr/>
        </p:nvSpPr>
        <p:spPr>
          <a:xfrm>
            <a:off x="1088136" y="2048256"/>
            <a:ext cx="32004" cy="320040"/>
          </a:xfrm>
          <a:prstGeom prst="rect">
            <a:avLst/>
          </a:prstGeom>
          <a:solidFill>
            <a:srgbClr val="17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68680" y="2423160"/>
            <a:ext cx="475488" cy="475488"/>
          </a:xfrm>
          <a:prstGeom prst="ellipse">
            <a:avLst/>
          </a:prstGeom>
          <a:solidFill>
            <a:srgbClr val="A2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2542032"/>
            <a:ext cx="475488" cy="146304"/>
          </a:xfrm>
          <a:prstGeom prst="rect">
            <a:avLst/>
          </a:prstGeom>
          <a:noFill/>
        </p:spPr>
        <p:txBody>
          <a:bodyPr wrap="square" lIns="36576" tIns="36576" rIns="36576" bIns="36576" anchor="t">
            <a:spAutoFit/>
          </a:bodyPr>
          <a:lstStyle/>
          <a:p>
            <a:pPr algn="ctr">
              <a:spcAft>
                <a:spcPts val="0"/>
              </a:spcAft>
            </a:pPr>
            <a:r>
              <a:rPr sz="1000" b="1">
                <a:solidFill>
                  <a:srgbClr val="101C30"/>
                </a:solidFill>
                <a:latin typeface="Aptos"/>
              </a:rPr>
              <a:t>02</a:t>
            </a:r>
          </a:p>
        </p:txBody>
      </p:sp>
      <p:sp>
        <p:nvSpPr>
          <p:cNvPr id="14" name="TextBox 13"/>
          <p:cNvSpPr txBox="1"/>
          <p:nvPr/>
        </p:nvSpPr>
        <p:spPr>
          <a:xfrm>
            <a:off x="1600200" y="2395728"/>
            <a:ext cx="3108960" cy="256032"/>
          </a:xfrm>
          <a:prstGeom prst="rect">
            <a:avLst/>
          </a:prstGeom>
          <a:noFill/>
        </p:spPr>
        <p:txBody>
          <a:bodyPr wrap="square" lIns="36576" tIns="36576" rIns="36576" bIns="36576" anchor="t">
            <a:spAutoFit/>
          </a:bodyPr>
          <a:lstStyle/>
          <a:p>
            <a:pPr algn="l">
              <a:spcAft>
                <a:spcPts val="0"/>
              </a:spcAft>
            </a:pPr>
            <a:r>
              <a:rPr sz="1300" b="1">
                <a:solidFill>
                  <a:srgbClr val="F7FAFD"/>
                </a:solidFill>
                <a:latin typeface="Aptos"/>
              </a:rPr>
              <a:t>CREATE / BROWSE PROJECTS</a:t>
            </a:r>
          </a:p>
        </p:txBody>
      </p:sp>
      <p:sp>
        <p:nvSpPr>
          <p:cNvPr id="15" name="TextBox 14"/>
          <p:cNvSpPr txBox="1"/>
          <p:nvPr/>
        </p:nvSpPr>
        <p:spPr>
          <a:xfrm>
            <a:off x="4663440" y="2395728"/>
            <a:ext cx="6309360" cy="365760"/>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Clients publish requirements; users browse listings.</a:t>
            </a:r>
          </a:p>
        </p:txBody>
      </p:sp>
      <p:sp>
        <p:nvSpPr>
          <p:cNvPr id="16" name="Rectangle 15"/>
          <p:cNvSpPr/>
          <p:nvPr/>
        </p:nvSpPr>
        <p:spPr>
          <a:xfrm>
            <a:off x="1088136" y="2907792"/>
            <a:ext cx="32004" cy="320040"/>
          </a:xfrm>
          <a:prstGeom prst="rect">
            <a:avLst/>
          </a:prstGeom>
          <a:solidFill>
            <a:srgbClr val="17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68680" y="3282695"/>
            <a:ext cx="475488" cy="475488"/>
          </a:xfrm>
          <a:prstGeom prst="ellipse">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3401568"/>
            <a:ext cx="475488" cy="146304"/>
          </a:xfrm>
          <a:prstGeom prst="rect">
            <a:avLst/>
          </a:prstGeom>
          <a:noFill/>
        </p:spPr>
        <p:txBody>
          <a:bodyPr wrap="square" lIns="36576" tIns="36576" rIns="36576" bIns="36576" anchor="t">
            <a:spAutoFit/>
          </a:bodyPr>
          <a:lstStyle/>
          <a:p>
            <a:pPr algn="ctr">
              <a:spcAft>
                <a:spcPts val="0"/>
              </a:spcAft>
            </a:pPr>
            <a:r>
              <a:rPr sz="1000" b="1">
                <a:solidFill>
                  <a:srgbClr val="101C30"/>
                </a:solidFill>
                <a:latin typeface="Aptos"/>
              </a:rPr>
              <a:t>03</a:t>
            </a:r>
          </a:p>
        </p:txBody>
      </p:sp>
      <p:sp>
        <p:nvSpPr>
          <p:cNvPr id="19" name="TextBox 18"/>
          <p:cNvSpPr txBox="1"/>
          <p:nvPr/>
        </p:nvSpPr>
        <p:spPr>
          <a:xfrm>
            <a:off x="1600200" y="3255263"/>
            <a:ext cx="3108960" cy="256032"/>
          </a:xfrm>
          <a:prstGeom prst="rect">
            <a:avLst/>
          </a:prstGeom>
          <a:noFill/>
        </p:spPr>
        <p:txBody>
          <a:bodyPr wrap="square" lIns="36576" tIns="36576" rIns="36576" bIns="36576" anchor="t">
            <a:spAutoFit/>
          </a:bodyPr>
          <a:lstStyle/>
          <a:p>
            <a:pPr algn="l">
              <a:spcAft>
                <a:spcPts val="0"/>
              </a:spcAft>
            </a:pPr>
            <a:r>
              <a:rPr sz="1300" b="1">
                <a:solidFill>
                  <a:srgbClr val="F7FAFD"/>
                </a:solidFill>
                <a:latin typeface="Aptos"/>
              </a:rPr>
              <a:t>SUBMIT A BID</a:t>
            </a:r>
          </a:p>
        </p:txBody>
      </p:sp>
      <p:sp>
        <p:nvSpPr>
          <p:cNvPr id="20" name="TextBox 19"/>
          <p:cNvSpPr txBox="1"/>
          <p:nvPr/>
        </p:nvSpPr>
        <p:spPr>
          <a:xfrm>
            <a:off x="4663440" y="3255263"/>
            <a:ext cx="6309360" cy="365760"/>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Freelancer sends a proposal for a project.</a:t>
            </a:r>
          </a:p>
        </p:txBody>
      </p:sp>
      <p:sp>
        <p:nvSpPr>
          <p:cNvPr id="21" name="Rectangle 20"/>
          <p:cNvSpPr/>
          <p:nvPr/>
        </p:nvSpPr>
        <p:spPr>
          <a:xfrm>
            <a:off x="1088136" y="3767327"/>
            <a:ext cx="32004" cy="320040"/>
          </a:xfrm>
          <a:prstGeom prst="rect">
            <a:avLst/>
          </a:prstGeom>
          <a:solidFill>
            <a:srgbClr val="17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68680" y="4142232"/>
            <a:ext cx="475488" cy="475488"/>
          </a:xfrm>
          <a:prstGeom prst="ellipse">
            <a:avLst/>
          </a:prstGeom>
          <a:solidFill>
            <a:srgbClr val="A2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4261104"/>
            <a:ext cx="475488" cy="146304"/>
          </a:xfrm>
          <a:prstGeom prst="rect">
            <a:avLst/>
          </a:prstGeom>
          <a:noFill/>
        </p:spPr>
        <p:txBody>
          <a:bodyPr wrap="square" lIns="36576" tIns="36576" rIns="36576" bIns="36576" anchor="t">
            <a:spAutoFit/>
          </a:bodyPr>
          <a:lstStyle/>
          <a:p>
            <a:pPr algn="ctr">
              <a:spcAft>
                <a:spcPts val="0"/>
              </a:spcAft>
            </a:pPr>
            <a:r>
              <a:rPr sz="1000" b="1">
                <a:solidFill>
                  <a:srgbClr val="101C30"/>
                </a:solidFill>
                <a:latin typeface="Aptos"/>
              </a:rPr>
              <a:t>04</a:t>
            </a:r>
          </a:p>
        </p:txBody>
      </p:sp>
      <p:sp>
        <p:nvSpPr>
          <p:cNvPr id="24" name="TextBox 23"/>
          <p:cNvSpPr txBox="1"/>
          <p:nvPr/>
        </p:nvSpPr>
        <p:spPr>
          <a:xfrm>
            <a:off x="1600200" y="4114800"/>
            <a:ext cx="3108960" cy="256032"/>
          </a:xfrm>
          <a:prstGeom prst="rect">
            <a:avLst/>
          </a:prstGeom>
          <a:noFill/>
        </p:spPr>
        <p:txBody>
          <a:bodyPr wrap="square" lIns="36576" tIns="36576" rIns="36576" bIns="36576" anchor="t">
            <a:spAutoFit/>
          </a:bodyPr>
          <a:lstStyle/>
          <a:p>
            <a:pPr algn="l">
              <a:spcAft>
                <a:spcPts val="0"/>
              </a:spcAft>
            </a:pPr>
            <a:r>
              <a:rPr sz="1300" b="1">
                <a:solidFill>
                  <a:srgbClr val="F7FAFD"/>
                </a:solidFill>
                <a:latin typeface="Aptos"/>
              </a:rPr>
              <a:t>REVIEW PROPOSALS</a:t>
            </a:r>
          </a:p>
        </p:txBody>
      </p:sp>
      <p:sp>
        <p:nvSpPr>
          <p:cNvPr id="25" name="TextBox 24"/>
          <p:cNvSpPr txBox="1"/>
          <p:nvPr/>
        </p:nvSpPr>
        <p:spPr>
          <a:xfrm>
            <a:off x="4663440" y="4114800"/>
            <a:ext cx="6309360" cy="365760"/>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Client compares bids and selects a freelancer.</a:t>
            </a:r>
          </a:p>
        </p:txBody>
      </p:sp>
      <p:sp>
        <p:nvSpPr>
          <p:cNvPr id="26" name="Rectangle 25"/>
          <p:cNvSpPr/>
          <p:nvPr/>
        </p:nvSpPr>
        <p:spPr>
          <a:xfrm>
            <a:off x="1088136" y="4626864"/>
            <a:ext cx="32004" cy="320040"/>
          </a:xfrm>
          <a:prstGeom prst="rect">
            <a:avLst/>
          </a:prstGeom>
          <a:solidFill>
            <a:srgbClr val="17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68680" y="5001768"/>
            <a:ext cx="475488" cy="475488"/>
          </a:xfrm>
          <a:prstGeom prst="ellipse">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5120640"/>
            <a:ext cx="475488" cy="146304"/>
          </a:xfrm>
          <a:prstGeom prst="rect">
            <a:avLst/>
          </a:prstGeom>
          <a:noFill/>
        </p:spPr>
        <p:txBody>
          <a:bodyPr wrap="square" lIns="36576" tIns="36576" rIns="36576" bIns="36576" anchor="t">
            <a:spAutoFit/>
          </a:bodyPr>
          <a:lstStyle/>
          <a:p>
            <a:pPr algn="ctr">
              <a:spcAft>
                <a:spcPts val="0"/>
              </a:spcAft>
            </a:pPr>
            <a:r>
              <a:rPr sz="1000" b="1">
                <a:solidFill>
                  <a:srgbClr val="101C30"/>
                </a:solidFill>
                <a:latin typeface="Aptos"/>
              </a:rPr>
              <a:t>05</a:t>
            </a:r>
          </a:p>
        </p:txBody>
      </p:sp>
      <p:sp>
        <p:nvSpPr>
          <p:cNvPr id="29" name="TextBox 28"/>
          <p:cNvSpPr txBox="1"/>
          <p:nvPr/>
        </p:nvSpPr>
        <p:spPr>
          <a:xfrm>
            <a:off x="1600200" y="4974336"/>
            <a:ext cx="3108960" cy="256032"/>
          </a:xfrm>
          <a:prstGeom prst="rect">
            <a:avLst/>
          </a:prstGeom>
          <a:noFill/>
        </p:spPr>
        <p:txBody>
          <a:bodyPr wrap="square" lIns="36576" tIns="36576" rIns="36576" bIns="36576" anchor="t">
            <a:spAutoFit/>
          </a:bodyPr>
          <a:lstStyle/>
          <a:p>
            <a:pPr algn="l">
              <a:spcAft>
                <a:spcPts val="0"/>
              </a:spcAft>
            </a:pPr>
            <a:r>
              <a:rPr sz="1300" b="1">
                <a:solidFill>
                  <a:srgbClr val="F7FAFD"/>
                </a:solidFill>
                <a:latin typeface="Aptos"/>
              </a:rPr>
              <a:t>COMPLETE &amp; REVIEW</a:t>
            </a:r>
          </a:p>
        </p:txBody>
      </p:sp>
      <p:sp>
        <p:nvSpPr>
          <p:cNvPr id="30" name="TextBox 29"/>
          <p:cNvSpPr txBox="1"/>
          <p:nvPr/>
        </p:nvSpPr>
        <p:spPr>
          <a:xfrm>
            <a:off x="4663440" y="4974336"/>
            <a:ext cx="6309360" cy="365760"/>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Project outcome, payment and feedback are recorded.</a:t>
            </a:r>
          </a:p>
        </p:txBody>
      </p:sp>
      <p:sp>
        <p:nvSpPr>
          <p:cNvPr id="31" name="TextBox 30"/>
          <p:cNvSpPr txBox="1"/>
          <p:nvPr/>
        </p:nvSpPr>
        <p:spPr>
          <a:xfrm>
            <a:off x="1600200" y="5989320"/>
            <a:ext cx="9326880" cy="256032"/>
          </a:xfrm>
          <a:prstGeom prst="rect">
            <a:avLst/>
          </a:prstGeom>
          <a:noFill/>
        </p:spPr>
        <p:txBody>
          <a:bodyPr wrap="square" lIns="36576" tIns="36576" rIns="36576" bIns="36576" anchor="t">
            <a:spAutoFit/>
          </a:bodyPr>
          <a:lstStyle/>
          <a:p>
            <a:pPr algn="l">
              <a:spcAft>
                <a:spcPts val="0"/>
              </a:spcAft>
            </a:pPr>
            <a:r>
              <a:rPr sz="900" b="1">
                <a:solidFill>
                  <a:srgbClr val="FFBE5C"/>
                </a:solidFill>
                <a:latin typeface="Aptos"/>
              </a:rPr>
              <a:t>This is the intended business workflow; include only steps supported by your current application.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7772400" cy="256032"/>
          </a:xfrm>
          <a:prstGeom prst="rect">
            <a:avLst/>
          </a:prstGeom>
          <a:noFill/>
        </p:spPr>
        <p:txBody>
          <a:bodyPr wrap="square" lIns="36576" tIns="36576" rIns="36576" bIns="36576" anchor="t">
            <a:spAutoFit/>
          </a:bodyPr>
          <a:lstStyle/>
          <a:p>
            <a:pPr algn="l">
              <a:spcAft>
                <a:spcPts val="0"/>
              </a:spcAft>
            </a:pPr>
            <a:r>
              <a:rPr sz="1000" b="1">
                <a:solidFill>
                  <a:srgbClr val="27BEAE"/>
                </a:solidFill>
                <a:latin typeface="Aptos"/>
              </a:rPr>
              <a:t>08 • DATABASE OPERATIONS</a:t>
            </a:r>
          </a:p>
        </p:txBody>
      </p:sp>
      <p:sp>
        <p:nvSpPr>
          <p:cNvPr id="3" name="TextBox 2"/>
          <p:cNvSpPr txBox="1"/>
          <p:nvPr/>
        </p:nvSpPr>
        <p:spPr>
          <a:xfrm>
            <a:off x="594360" y="594360"/>
            <a:ext cx="9875520" cy="502920"/>
          </a:xfrm>
          <a:prstGeom prst="rect">
            <a:avLst/>
          </a:prstGeom>
          <a:noFill/>
        </p:spPr>
        <p:txBody>
          <a:bodyPr wrap="square" lIns="36576" tIns="36576" rIns="36576" bIns="36576" anchor="t">
            <a:spAutoFit/>
          </a:bodyPr>
          <a:lstStyle/>
          <a:p>
            <a:pPr algn="l">
              <a:spcAft>
                <a:spcPts val="0"/>
              </a:spcAft>
            </a:pPr>
            <a:r>
              <a:rPr sz="2800" b="1">
                <a:solidFill>
                  <a:srgbClr val="F7FAFD"/>
                </a:solidFill>
                <a:latin typeface="Aptos"/>
              </a:rPr>
              <a:t>CRUD Operations</a:t>
            </a:r>
          </a:p>
        </p:txBody>
      </p:sp>
      <p:sp>
        <p:nvSpPr>
          <p:cNvPr id="4" name="TextBox 3"/>
          <p:cNvSpPr txBox="1"/>
          <p:nvPr/>
        </p:nvSpPr>
        <p:spPr>
          <a:xfrm>
            <a:off x="10972800" y="320040"/>
            <a:ext cx="640080" cy="320040"/>
          </a:xfrm>
          <a:prstGeom prst="rect">
            <a:avLst/>
          </a:prstGeom>
          <a:noFill/>
        </p:spPr>
        <p:txBody>
          <a:bodyPr wrap="square" lIns="36576" tIns="36576" rIns="36576" bIns="36576" anchor="t">
            <a:spAutoFit/>
          </a:bodyPr>
          <a:lstStyle/>
          <a:p>
            <a:pPr algn="r">
              <a:spcAft>
                <a:spcPts val="0"/>
              </a:spcAft>
            </a:pPr>
            <a:r>
              <a:rPr sz="1300" b="1">
                <a:solidFill>
                  <a:srgbClr val="B1BFD0"/>
                </a:solidFill>
                <a:latin typeface="Aptos"/>
              </a:rPr>
              <a:t>09</a:t>
            </a:r>
          </a:p>
        </p:txBody>
      </p:sp>
      <p:sp>
        <p:nvSpPr>
          <p:cNvPr id="5" name="Rectangle 4"/>
          <p:cNvSpPr/>
          <p:nvPr/>
        </p:nvSpPr>
        <p:spPr>
          <a:xfrm>
            <a:off x="594360" y="1234440"/>
            <a:ext cx="594360" cy="50292"/>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9672"/>
            <a:ext cx="7772400" cy="164592"/>
          </a:xfrm>
          <a:prstGeom prst="rect">
            <a:avLst/>
          </a:prstGeom>
          <a:noFill/>
        </p:spPr>
        <p:txBody>
          <a:bodyPr wrap="square" lIns="36576" tIns="36576" rIns="36576" bIns="36576" anchor="t">
            <a:spAutoFit/>
          </a:bodyPr>
          <a:lstStyle/>
          <a:p>
            <a:pPr algn="l">
              <a:spcAft>
                <a:spcPts val="0"/>
              </a:spcAft>
            </a:pPr>
            <a:r>
              <a:rPr sz="800" b="1">
                <a:solidFill>
                  <a:srgbClr val="B1BFD0"/>
                </a:solidFill>
                <a:latin typeface="Aptos"/>
              </a:rPr>
              <a:t>FREELANCER MARKETPLACE  •  DBMS MINI PROJECT</a:t>
            </a:r>
          </a:p>
        </p:txBody>
      </p:sp>
      <p:sp>
        <p:nvSpPr>
          <p:cNvPr id="7" name="Rounded Rectangle 6"/>
          <p:cNvSpPr/>
          <p:nvPr/>
        </p:nvSpPr>
        <p:spPr>
          <a:xfrm>
            <a:off x="731520" y="1874519"/>
            <a:ext cx="2514600" cy="23774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148840"/>
            <a:ext cx="2148840" cy="384048"/>
          </a:xfrm>
          <a:prstGeom prst="rect">
            <a:avLst/>
          </a:prstGeom>
          <a:noFill/>
        </p:spPr>
        <p:txBody>
          <a:bodyPr wrap="square" lIns="36576" tIns="36576" rIns="36576" bIns="36576" anchor="t">
            <a:spAutoFit/>
          </a:bodyPr>
          <a:lstStyle/>
          <a:p>
            <a:pPr algn="ctr">
              <a:spcAft>
                <a:spcPts val="0"/>
              </a:spcAft>
            </a:pPr>
            <a:r>
              <a:rPr sz="1900" b="1">
                <a:solidFill>
                  <a:srgbClr val="27BEAE"/>
                </a:solidFill>
                <a:latin typeface="Aptos"/>
              </a:rPr>
              <a:t>CREATE</a:t>
            </a:r>
          </a:p>
        </p:txBody>
      </p:sp>
      <p:sp>
        <p:nvSpPr>
          <p:cNvPr id="9" name="TextBox 8"/>
          <p:cNvSpPr txBox="1"/>
          <p:nvPr/>
        </p:nvSpPr>
        <p:spPr>
          <a:xfrm>
            <a:off x="914400" y="2743200"/>
            <a:ext cx="2148840" cy="731520"/>
          </a:xfrm>
          <a:prstGeom prst="rect">
            <a:avLst/>
          </a:prstGeom>
          <a:noFill/>
        </p:spPr>
        <p:txBody>
          <a:bodyPr wrap="square" lIns="36576" tIns="36576" rIns="36576" bIns="36576" anchor="t">
            <a:spAutoFit/>
          </a:bodyPr>
          <a:lstStyle/>
          <a:p>
            <a:pPr algn="ctr">
              <a:spcAft>
                <a:spcPts val="0"/>
              </a:spcAft>
            </a:pPr>
            <a:r>
              <a:rPr sz="1100" b="0">
                <a:solidFill>
                  <a:srgbClr val="F7FAFD"/>
                </a:solidFill>
                <a:latin typeface="Aptos"/>
              </a:rPr>
              <a:t>Insert new user, project, bid or skill records.</a:t>
            </a:r>
          </a:p>
        </p:txBody>
      </p:sp>
      <p:sp>
        <p:nvSpPr>
          <p:cNvPr id="10" name="Rounded Rectangle 9"/>
          <p:cNvSpPr/>
          <p:nvPr/>
        </p:nvSpPr>
        <p:spPr>
          <a:xfrm>
            <a:off x="1051560" y="3703320"/>
            <a:ext cx="1874519" cy="384048"/>
          </a:xfrm>
          <a:prstGeom prst="roundRect">
            <a:avLst/>
          </a:prstGeom>
          <a:solidFill>
            <a:srgbClr val="10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3803904"/>
            <a:ext cx="1874519" cy="164592"/>
          </a:xfrm>
          <a:prstGeom prst="rect">
            <a:avLst/>
          </a:prstGeom>
          <a:noFill/>
        </p:spPr>
        <p:txBody>
          <a:bodyPr wrap="square" lIns="36576" tIns="36576" rIns="36576" bIns="36576" anchor="t">
            <a:spAutoFit/>
          </a:bodyPr>
          <a:lstStyle/>
          <a:p>
            <a:pPr algn="ctr">
              <a:spcAft>
                <a:spcPts val="0"/>
              </a:spcAft>
            </a:pPr>
            <a:r>
              <a:rPr sz="1000" b="1">
                <a:solidFill>
                  <a:srgbClr val="27BEAE"/>
                </a:solidFill>
                <a:latin typeface="Aptos"/>
              </a:rPr>
              <a:t>INSERT</a:t>
            </a:r>
          </a:p>
        </p:txBody>
      </p:sp>
      <p:sp>
        <p:nvSpPr>
          <p:cNvPr id="12" name="Rounded Rectangle 11"/>
          <p:cNvSpPr/>
          <p:nvPr/>
        </p:nvSpPr>
        <p:spPr>
          <a:xfrm>
            <a:off x="3584448" y="1874519"/>
            <a:ext cx="2514600" cy="23774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67328" y="2148840"/>
            <a:ext cx="2148840" cy="384048"/>
          </a:xfrm>
          <a:prstGeom prst="rect">
            <a:avLst/>
          </a:prstGeom>
          <a:noFill/>
        </p:spPr>
        <p:txBody>
          <a:bodyPr wrap="square" lIns="36576" tIns="36576" rIns="36576" bIns="36576" anchor="t">
            <a:spAutoFit/>
          </a:bodyPr>
          <a:lstStyle/>
          <a:p>
            <a:pPr algn="ctr">
              <a:spcAft>
                <a:spcPts val="0"/>
              </a:spcAft>
            </a:pPr>
            <a:r>
              <a:rPr sz="1900" b="1">
                <a:solidFill>
                  <a:srgbClr val="6CDCD5"/>
                </a:solidFill>
                <a:latin typeface="Aptos"/>
              </a:rPr>
              <a:t>READ</a:t>
            </a:r>
          </a:p>
        </p:txBody>
      </p:sp>
      <p:sp>
        <p:nvSpPr>
          <p:cNvPr id="14" name="TextBox 13"/>
          <p:cNvSpPr txBox="1"/>
          <p:nvPr/>
        </p:nvSpPr>
        <p:spPr>
          <a:xfrm>
            <a:off x="3767328" y="2743200"/>
            <a:ext cx="2148840" cy="731520"/>
          </a:xfrm>
          <a:prstGeom prst="rect">
            <a:avLst/>
          </a:prstGeom>
          <a:noFill/>
        </p:spPr>
        <p:txBody>
          <a:bodyPr wrap="square" lIns="36576" tIns="36576" rIns="36576" bIns="36576" anchor="t">
            <a:spAutoFit/>
          </a:bodyPr>
          <a:lstStyle/>
          <a:p>
            <a:pPr algn="ctr">
              <a:spcAft>
                <a:spcPts val="0"/>
              </a:spcAft>
            </a:pPr>
            <a:r>
              <a:rPr sz="1100" b="0">
                <a:solidFill>
                  <a:srgbClr val="F7FAFD"/>
                </a:solidFill>
                <a:latin typeface="Aptos"/>
              </a:rPr>
              <a:t>Retrieve records using SELECT and filtering.</a:t>
            </a:r>
          </a:p>
        </p:txBody>
      </p:sp>
      <p:sp>
        <p:nvSpPr>
          <p:cNvPr id="15" name="Rounded Rectangle 14"/>
          <p:cNvSpPr/>
          <p:nvPr/>
        </p:nvSpPr>
        <p:spPr>
          <a:xfrm>
            <a:off x="3904487" y="3703320"/>
            <a:ext cx="1874519" cy="384048"/>
          </a:xfrm>
          <a:prstGeom prst="roundRect">
            <a:avLst/>
          </a:prstGeom>
          <a:solidFill>
            <a:srgbClr val="10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904487" y="3803904"/>
            <a:ext cx="1874519" cy="164592"/>
          </a:xfrm>
          <a:prstGeom prst="rect">
            <a:avLst/>
          </a:prstGeom>
          <a:noFill/>
        </p:spPr>
        <p:txBody>
          <a:bodyPr wrap="square" lIns="36576" tIns="36576" rIns="36576" bIns="36576" anchor="t">
            <a:spAutoFit/>
          </a:bodyPr>
          <a:lstStyle/>
          <a:p>
            <a:pPr algn="ctr">
              <a:spcAft>
                <a:spcPts val="0"/>
              </a:spcAft>
            </a:pPr>
            <a:r>
              <a:rPr sz="1000" b="1">
                <a:solidFill>
                  <a:srgbClr val="6CDCD5"/>
                </a:solidFill>
                <a:latin typeface="Aptos"/>
              </a:rPr>
              <a:t>SELECT</a:t>
            </a:r>
          </a:p>
        </p:txBody>
      </p:sp>
      <p:sp>
        <p:nvSpPr>
          <p:cNvPr id="17" name="Rounded Rectangle 16"/>
          <p:cNvSpPr/>
          <p:nvPr/>
        </p:nvSpPr>
        <p:spPr>
          <a:xfrm>
            <a:off x="6437376" y="1874519"/>
            <a:ext cx="2514600" cy="23774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20256" y="2148840"/>
            <a:ext cx="2148840" cy="384048"/>
          </a:xfrm>
          <a:prstGeom prst="rect">
            <a:avLst/>
          </a:prstGeom>
          <a:noFill/>
        </p:spPr>
        <p:txBody>
          <a:bodyPr wrap="square" lIns="36576" tIns="36576" rIns="36576" bIns="36576" anchor="t">
            <a:spAutoFit/>
          </a:bodyPr>
          <a:lstStyle/>
          <a:p>
            <a:pPr algn="ctr">
              <a:spcAft>
                <a:spcPts val="0"/>
              </a:spcAft>
            </a:pPr>
            <a:r>
              <a:rPr sz="1900" b="1">
                <a:solidFill>
                  <a:srgbClr val="FFBE5C"/>
                </a:solidFill>
                <a:latin typeface="Aptos"/>
              </a:rPr>
              <a:t>UPDATE</a:t>
            </a:r>
          </a:p>
        </p:txBody>
      </p:sp>
      <p:sp>
        <p:nvSpPr>
          <p:cNvPr id="19" name="TextBox 18"/>
          <p:cNvSpPr txBox="1"/>
          <p:nvPr/>
        </p:nvSpPr>
        <p:spPr>
          <a:xfrm>
            <a:off x="6620256" y="2743200"/>
            <a:ext cx="2148840" cy="731520"/>
          </a:xfrm>
          <a:prstGeom prst="rect">
            <a:avLst/>
          </a:prstGeom>
          <a:noFill/>
        </p:spPr>
        <p:txBody>
          <a:bodyPr wrap="square" lIns="36576" tIns="36576" rIns="36576" bIns="36576" anchor="t">
            <a:spAutoFit/>
          </a:bodyPr>
          <a:lstStyle/>
          <a:p>
            <a:pPr algn="ctr">
              <a:spcAft>
                <a:spcPts val="0"/>
              </a:spcAft>
            </a:pPr>
            <a:r>
              <a:rPr sz="1100" b="0">
                <a:solidFill>
                  <a:srgbClr val="F7FAFD"/>
                </a:solidFill>
                <a:latin typeface="Aptos"/>
              </a:rPr>
              <a:t>Edit project details, bid status or profile data.</a:t>
            </a:r>
          </a:p>
        </p:txBody>
      </p:sp>
      <p:sp>
        <p:nvSpPr>
          <p:cNvPr id="20" name="Rounded Rectangle 19"/>
          <p:cNvSpPr/>
          <p:nvPr/>
        </p:nvSpPr>
        <p:spPr>
          <a:xfrm>
            <a:off x="6757416" y="3703320"/>
            <a:ext cx="1874519" cy="384048"/>
          </a:xfrm>
          <a:prstGeom prst="roundRect">
            <a:avLst/>
          </a:prstGeom>
          <a:solidFill>
            <a:srgbClr val="10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57416" y="3803904"/>
            <a:ext cx="1874519" cy="164592"/>
          </a:xfrm>
          <a:prstGeom prst="rect">
            <a:avLst/>
          </a:prstGeom>
          <a:noFill/>
        </p:spPr>
        <p:txBody>
          <a:bodyPr wrap="square" lIns="36576" tIns="36576" rIns="36576" bIns="36576" anchor="t">
            <a:spAutoFit/>
          </a:bodyPr>
          <a:lstStyle/>
          <a:p>
            <a:pPr algn="ctr">
              <a:spcAft>
                <a:spcPts val="0"/>
              </a:spcAft>
            </a:pPr>
            <a:r>
              <a:rPr sz="1000" b="1">
                <a:solidFill>
                  <a:srgbClr val="FFBE5C"/>
                </a:solidFill>
                <a:latin typeface="Aptos"/>
              </a:rPr>
              <a:t>UPDATE</a:t>
            </a:r>
          </a:p>
        </p:txBody>
      </p:sp>
      <p:sp>
        <p:nvSpPr>
          <p:cNvPr id="22" name="Rounded Rectangle 21"/>
          <p:cNvSpPr/>
          <p:nvPr/>
        </p:nvSpPr>
        <p:spPr>
          <a:xfrm>
            <a:off x="9290304" y="1874519"/>
            <a:ext cx="2514600" cy="23774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3184" y="2148840"/>
            <a:ext cx="2148840" cy="384048"/>
          </a:xfrm>
          <a:prstGeom prst="rect">
            <a:avLst/>
          </a:prstGeom>
          <a:noFill/>
        </p:spPr>
        <p:txBody>
          <a:bodyPr wrap="square" lIns="36576" tIns="36576" rIns="36576" bIns="36576" anchor="t">
            <a:spAutoFit/>
          </a:bodyPr>
          <a:lstStyle/>
          <a:p>
            <a:pPr algn="ctr">
              <a:spcAft>
                <a:spcPts val="0"/>
              </a:spcAft>
            </a:pPr>
            <a:r>
              <a:rPr sz="1900" b="1">
                <a:solidFill>
                  <a:srgbClr val="A28BFF"/>
                </a:solidFill>
                <a:latin typeface="Aptos"/>
              </a:rPr>
              <a:t>DELETE</a:t>
            </a:r>
          </a:p>
        </p:txBody>
      </p:sp>
      <p:sp>
        <p:nvSpPr>
          <p:cNvPr id="24" name="TextBox 23"/>
          <p:cNvSpPr txBox="1"/>
          <p:nvPr/>
        </p:nvSpPr>
        <p:spPr>
          <a:xfrm>
            <a:off x="9473184" y="2743200"/>
            <a:ext cx="2148840" cy="731520"/>
          </a:xfrm>
          <a:prstGeom prst="rect">
            <a:avLst/>
          </a:prstGeom>
          <a:noFill/>
        </p:spPr>
        <p:txBody>
          <a:bodyPr wrap="square" lIns="36576" tIns="36576" rIns="36576" bIns="36576" anchor="t">
            <a:spAutoFit/>
          </a:bodyPr>
          <a:lstStyle/>
          <a:p>
            <a:pPr algn="ctr">
              <a:spcAft>
                <a:spcPts val="0"/>
              </a:spcAft>
            </a:pPr>
            <a:r>
              <a:rPr sz="1100" b="0">
                <a:solidFill>
                  <a:srgbClr val="F7FAFD"/>
                </a:solidFill>
                <a:latin typeface="Aptos"/>
              </a:rPr>
              <a:t>Remove records where permitted and maintain referential integrity.</a:t>
            </a:r>
          </a:p>
        </p:txBody>
      </p:sp>
      <p:sp>
        <p:nvSpPr>
          <p:cNvPr id="25" name="Rounded Rectangle 24"/>
          <p:cNvSpPr/>
          <p:nvPr/>
        </p:nvSpPr>
        <p:spPr>
          <a:xfrm>
            <a:off x="9610344" y="3703320"/>
            <a:ext cx="1874519" cy="384048"/>
          </a:xfrm>
          <a:prstGeom prst="roundRect">
            <a:avLst/>
          </a:prstGeom>
          <a:solidFill>
            <a:srgbClr val="10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10344" y="3803904"/>
            <a:ext cx="1874519" cy="164592"/>
          </a:xfrm>
          <a:prstGeom prst="rect">
            <a:avLst/>
          </a:prstGeom>
          <a:noFill/>
        </p:spPr>
        <p:txBody>
          <a:bodyPr wrap="square" lIns="36576" tIns="36576" rIns="36576" bIns="36576" anchor="t">
            <a:spAutoFit/>
          </a:bodyPr>
          <a:lstStyle/>
          <a:p>
            <a:pPr algn="ctr">
              <a:spcAft>
                <a:spcPts val="0"/>
              </a:spcAft>
            </a:pPr>
            <a:r>
              <a:rPr sz="1000" b="1">
                <a:solidFill>
                  <a:srgbClr val="A28BFF"/>
                </a:solidFill>
                <a:latin typeface="Aptos"/>
              </a:rPr>
              <a:t>DELETE</a:t>
            </a:r>
          </a:p>
        </p:txBody>
      </p:sp>
      <p:sp>
        <p:nvSpPr>
          <p:cNvPr id="27" name="TextBox 26"/>
          <p:cNvSpPr txBox="1"/>
          <p:nvPr/>
        </p:nvSpPr>
        <p:spPr>
          <a:xfrm>
            <a:off x="822960" y="4892040"/>
            <a:ext cx="10332720" cy="548640"/>
          </a:xfrm>
          <a:prstGeom prst="rect">
            <a:avLst/>
          </a:prstGeom>
          <a:noFill/>
        </p:spPr>
        <p:txBody>
          <a:bodyPr wrap="square" lIns="36576" tIns="36576" rIns="36576" bIns="36576" anchor="t">
            <a:spAutoFit/>
          </a:bodyPr>
          <a:lstStyle/>
          <a:p>
            <a:pPr algn="l">
              <a:spcAft>
                <a:spcPts val="0"/>
              </a:spcAft>
            </a:pPr>
            <a:r>
              <a:rPr sz="1200" b="0">
                <a:solidFill>
                  <a:srgbClr val="B1BFD0"/>
                </a:solidFill>
                <a:latin typeface="Aptos"/>
              </a:rPr>
              <a:t>Additional DBMS concepts can include joins, aggregate functions, nested queries, views, procedures/functions and triggers—only list those you have actually implemented.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7772400" cy="256032"/>
          </a:xfrm>
          <a:prstGeom prst="rect">
            <a:avLst/>
          </a:prstGeom>
          <a:noFill/>
        </p:spPr>
        <p:txBody>
          <a:bodyPr wrap="square" lIns="36576" tIns="36576" rIns="36576" bIns="36576" anchor="t">
            <a:spAutoFit/>
          </a:bodyPr>
          <a:lstStyle/>
          <a:p>
            <a:pPr algn="l">
              <a:spcAft>
                <a:spcPts val="0"/>
              </a:spcAft>
            </a:pPr>
            <a:r>
              <a:rPr sz="1000" b="1">
                <a:solidFill>
                  <a:srgbClr val="27BEAE"/>
                </a:solidFill>
                <a:latin typeface="Aptos"/>
              </a:rPr>
              <a:t>09 • BENEFITS</a:t>
            </a:r>
          </a:p>
        </p:txBody>
      </p:sp>
      <p:sp>
        <p:nvSpPr>
          <p:cNvPr id="3" name="TextBox 2"/>
          <p:cNvSpPr txBox="1"/>
          <p:nvPr/>
        </p:nvSpPr>
        <p:spPr>
          <a:xfrm>
            <a:off x="594360" y="594360"/>
            <a:ext cx="9875520" cy="502920"/>
          </a:xfrm>
          <a:prstGeom prst="rect">
            <a:avLst/>
          </a:prstGeom>
          <a:noFill/>
        </p:spPr>
        <p:txBody>
          <a:bodyPr wrap="square" lIns="36576" tIns="36576" rIns="36576" bIns="36576" anchor="t">
            <a:spAutoFit/>
          </a:bodyPr>
          <a:lstStyle/>
          <a:p>
            <a:pPr algn="l">
              <a:spcAft>
                <a:spcPts val="0"/>
              </a:spcAft>
            </a:pPr>
            <a:r>
              <a:rPr sz="2800" b="1">
                <a:solidFill>
                  <a:srgbClr val="F7FAFD"/>
                </a:solidFill>
                <a:latin typeface="Aptos"/>
              </a:rPr>
              <a:t>Advantages</a:t>
            </a:r>
          </a:p>
        </p:txBody>
      </p:sp>
      <p:sp>
        <p:nvSpPr>
          <p:cNvPr id="4" name="TextBox 3"/>
          <p:cNvSpPr txBox="1"/>
          <p:nvPr/>
        </p:nvSpPr>
        <p:spPr>
          <a:xfrm>
            <a:off x="10972800" y="320040"/>
            <a:ext cx="640080" cy="320040"/>
          </a:xfrm>
          <a:prstGeom prst="rect">
            <a:avLst/>
          </a:prstGeom>
          <a:noFill/>
        </p:spPr>
        <p:txBody>
          <a:bodyPr wrap="square" lIns="36576" tIns="36576" rIns="36576" bIns="36576" anchor="t">
            <a:spAutoFit/>
          </a:bodyPr>
          <a:lstStyle/>
          <a:p>
            <a:pPr algn="r">
              <a:spcAft>
                <a:spcPts val="0"/>
              </a:spcAft>
            </a:pPr>
            <a:r>
              <a:rPr sz="1300" b="1">
                <a:solidFill>
                  <a:srgbClr val="B1BFD0"/>
                </a:solidFill>
                <a:latin typeface="Aptos"/>
              </a:rPr>
              <a:t>10</a:t>
            </a:r>
          </a:p>
        </p:txBody>
      </p:sp>
      <p:sp>
        <p:nvSpPr>
          <p:cNvPr id="5" name="Rectangle 4"/>
          <p:cNvSpPr/>
          <p:nvPr/>
        </p:nvSpPr>
        <p:spPr>
          <a:xfrm>
            <a:off x="594360" y="1234440"/>
            <a:ext cx="594360" cy="50292"/>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9672"/>
            <a:ext cx="7772400" cy="164592"/>
          </a:xfrm>
          <a:prstGeom prst="rect">
            <a:avLst/>
          </a:prstGeom>
          <a:noFill/>
        </p:spPr>
        <p:txBody>
          <a:bodyPr wrap="square" lIns="36576" tIns="36576" rIns="36576" bIns="36576" anchor="t">
            <a:spAutoFit/>
          </a:bodyPr>
          <a:lstStyle/>
          <a:p>
            <a:pPr algn="l">
              <a:spcAft>
                <a:spcPts val="0"/>
              </a:spcAft>
            </a:pPr>
            <a:r>
              <a:rPr sz="800" b="1">
                <a:solidFill>
                  <a:srgbClr val="B1BFD0"/>
                </a:solidFill>
                <a:latin typeface="Aptos"/>
              </a:rPr>
              <a:t>FREELANCER MARKETPLACE  •  DBMS MINI PROJECT</a:t>
            </a:r>
          </a:p>
        </p:txBody>
      </p:sp>
      <p:sp>
        <p:nvSpPr>
          <p:cNvPr id="7" name="Rounded Rectangle 6"/>
          <p:cNvSpPr/>
          <p:nvPr/>
        </p:nvSpPr>
        <p:spPr>
          <a:xfrm>
            <a:off x="685800" y="1691640"/>
            <a:ext cx="3474720" cy="150876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91640"/>
            <a:ext cx="64008" cy="1508760"/>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856232"/>
            <a:ext cx="3090672" cy="347472"/>
          </a:xfrm>
          <a:prstGeom prst="rect">
            <a:avLst/>
          </a:prstGeom>
          <a:noFill/>
        </p:spPr>
        <p:txBody>
          <a:bodyPr wrap="square" lIns="36576" tIns="36576" rIns="36576" bIns="36576" anchor="t">
            <a:spAutoFit/>
          </a:bodyPr>
          <a:lstStyle/>
          <a:p>
            <a:pPr algn="l">
              <a:spcAft>
                <a:spcPts val="0"/>
              </a:spcAft>
            </a:pPr>
            <a:r>
              <a:rPr sz="1400" b="1">
                <a:solidFill>
                  <a:srgbClr val="F7FAFD"/>
                </a:solidFill>
                <a:latin typeface="Aptos"/>
              </a:rPr>
              <a:t>Centralized Data</a:t>
            </a:r>
          </a:p>
        </p:txBody>
      </p:sp>
      <p:sp>
        <p:nvSpPr>
          <p:cNvPr id="10" name="TextBox 9"/>
          <p:cNvSpPr txBox="1"/>
          <p:nvPr/>
        </p:nvSpPr>
        <p:spPr>
          <a:xfrm>
            <a:off x="886968" y="2313432"/>
            <a:ext cx="3090672" cy="75895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Related marketplace information is stored in one database.</a:t>
            </a:r>
          </a:p>
        </p:txBody>
      </p:sp>
      <p:sp>
        <p:nvSpPr>
          <p:cNvPr id="11" name="Rounded Rectangle 10"/>
          <p:cNvSpPr/>
          <p:nvPr/>
        </p:nvSpPr>
        <p:spPr>
          <a:xfrm>
            <a:off x="4507992" y="1691640"/>
            <a:ext cx="3474720" cy="150876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07992" y="1691640"/>
            <a:ext cx="64008" cy="1508760"/>
          </a:xfrm>
          <a:prstGeom prst="rect">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9159" y="1856232"/>
            <a:ext cx="3090672" cy="347472"/>
          </a:xfrm>
          <a:prstGeom prst="rect">
            <a:avLst/>
          </a:prstGeom>
          <a:noFill/>
        </p:spPr>
        <p:txBody>
          <a:bodyPr wrap="square" lIns="36576" tIns="36576" rIns="36576" bIns="36576" anchor="t">
            <a:spAutoFit/>
          </a:bodyPr>
          <a:lstStyle/>
          <a:p>
            <a:pPr algn="l">
              <a:spcAft>
                <a:spcPts val="0"/>
              </a:spcAft>
            </a:pPr>
            <a:r>
              <a:rPr sz="1400" b="1">
                <a:solidFill>
                  <a:srgbClr val="F7FAFD"/>
                </a:solidFill>
                <a:latin typeface="Aptos"/>
              </a:rPr>
              <a:t>Reduced Duplication</a:t>
            </a:r>
          </a:p>
        </p:txBody>
      </p:sp>
      <p:sp>
        <p:nvSpPr>
          <p:cNvPr id="14" name="TextBox 13"/>
          <p:cNvSpPr txBox="1"/>
          <p:nvPr/>
        </p:nvSpPr>
        <p:spPr>
          <a:xfrm>
            <a:off x="4709159" y="2313432"/>
            <a:ext cx="3090672" cy="75895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Normalization helps avoid unnecessary repeated data.</a:t>
            </a:r>
          </a:p>
        </p:txBody>
      </p:sp>
      <p:sp>
        <p:nvSpPr>
          <p:cNvPr id="15" name="Rounded Rectangle 14"/>
          <p:cNvSpPr/>
          <p:nvPr/>
        </p:nvSpPr>
        <p:spPr>
          <a:xfrm>
            <a:off x="8330183" y="1691640"/>
            <a:ext cx="3474720" cy="150876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330183" y="1691640"/>
            <a:ext cx="64008" cy="1508760"/>
          </a:xfrm>
          <a:prstGeom prst="rect">
            <a:avLst/>
          </a:prstGeom>
          <a:solidFill>
            <a:srgbClr val="A2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31352" y="1856232"/>
            <a:ext cx="3090672" cy="347472"/>
          </a:xfrm>
          <a:prstGeom prst="rect">
            <a:avLst/>
          </a:prstGeom>
          <a:noFill/>
        </p:spPr>
        <p:txBody>
          <a:bodyPr wrap="square" lIns="36576" tIns="36576" rIns="36576" bIns="36576" anchor="t">
            <a:spAutoFit/>
          </a:bodyPr>
          <a:lstStyle/>
          <a:p>
            <a:pPr algn="l">
              <a:spcAft>
                <a:spcPts val="0"/>
              </a:spcAft>
            </a:pPr>
            <a:r>
              <a:rPr sz="1400" b="1">
                <a:solidFill>
                  <a:srgbClr val="F7FAFD"/>
                </a:solidFill>
                <a:latin typeface="Aptos"/>
              </a:rPr>
              <a:t>Data Integrity</a:t>
            </a:r>
          </a:p>
        </p:txBody>
      </p:sp>
      <p:sp>
        <p:nvSpPr>
          <p:cNvPr id="18" name="TextBox 17"/>
          <p:cNvSpPr txBox="1"/>
          <p:nvPr/>
        </p:nvSpPr>
        <p:spPr>
          <a:xfrm>
            <a:off x="8531352" y="2313432"/>
            <a:ext cx="3090672" cy="75895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Keys and constraints protect relationships between records.</a:t>
            </a:r>
          </a:p>
        </p:txBody>
      </p:sp>
      <p:sp>
        <p:nvSpPr>
          <p:cNvPr id="19" name="Rounded Rectangle 18"/>
          <p:cNvSpPr/>
          <p:nvPr/>
        </p:nvSpPr>
        <p:spPr>
          <a:xfrm>
            <a:off x="685800" y="3657600"/>
            <a:ext cx="3474720" cy="150876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85800" y="3657600"/>
            <a:ext cx="64008" cy="1508760"/>
          </a:xfrm>
          <a:prstGeom prst="rect">
            <a:avLst/>
          </a:prstGeom>
          <a:solidFill>
            <a:srgbClr val="6CD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968" y="3822191"/>
            <a:ext cx="3090672" cy="347472"/>
          </a:xfrm>
          <a:prstGeom prst="rect">
            <a:avLst/>
          </a:prstGeom>
          <a:noFill/>
        </p:spPr>
        <p:txBody>
          <a:bodyPr wrap="square" lIns="36576" tIns="36576" rIns="36576" bIns="36576" anchor="t">
            <a:spAutoFit/>
          </a:bodyPr>
          <a:lstStyle/>
          <a:p>
            <a:pPr algn="l">
              <a:spcAft>
                <a:spcPts val="0"/>
              </a:spcAft>
            </a:pPr>
            <a:r>
              <a:rPr sz="1400" b="1">
                <a:solidFill>
                  <a:srgbClr val="F7FAFD"/>
                </a:solidFill>
                <a:latin typeface="Aptos"/>
              </a:rPr>
              <a:t>Efficient Queries</a:t>
            </a:r>
          </a:p>
        </p:txBody>
      </p:sp>
      <p:sp>
        <p:nvSpPr>
          <p:cNvPr id="22" name="TextBox 21"/>
          <p:cNvSpPr txBox="1"/>
          <p:nvPr/>
        </p:nvSpPr>
        <p:spPr>
          <a:xfrm>
            <a:off x="886968" y="4279392"/>
            <a:ext cx="3090672" cy="75895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Joins and indexes can support faster retrieval.</a:t>
            </a:r>
          </a:p>
        </p:txBody>
      </p:sp>
      <p:sp>
        <p:nvSpPr>
          <p:cNvPr id="23" name="Rounded Rectangle 22"/>
          <p:cNvSpPr/>
          <p:nvPr/>
        </p:nvSpPr>
        <p:spPr>
          <a:xfrm>
            <a:off x="4507992" y="3657600"/>
            <a:ext cx="3474720" cy="150876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07992" y="3657600"/>
            <a:ext cx="64008" cy="1508760"/>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09159" y="3822191"/>
            <a:ext cx="3090672" cy="347472"/>
          </a:xfrm>
          <a:prstGeom prst="rect">
            <a:avLst/>
          </a:prstGeom>
          <a:noFill/>
        </p:spPr>
        <p:txBody>
          <a:bodyPr wrap="square" lIns="36576" tIns="36576" rIns="36576" bIns="36576" anchor="t">
            <a:spAutoFit/>
          </a:bodyPr>
          <a:lstStyle/>
          <a:p>
            <a:pPr algn="l">
              <a:spcAft>
                <a:spcPts val="0"/>
              </a:spcAft>
            </a:pPr>
            <a:r>
              <a:rPr sz="1400" b="1">
                <a:solidFill>
                  <a:srgbClr val="F7FAFD"/>
                </a:solidFill>
                <a:latin typeface="Aptos"/>
              </a:rPr>
              <a:t>Maintainability</a:t>
            </a:r>
          </a:p>
        </p:txBody>
      </p:sp>
      <p:sp>
        <p:nvSpPr>
          <p:cNvPr id="26" name="TextBox 25"/>
          <p:cNvSpPr txBox="1"/>
          <p:nvPr/>
        </p:nvSpPr>
        <p:spPr>
          <a:xfrm>
            <a:off x="4709159" y="4279392"/>
            <a:ext cx="3090672" cy="75895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Separate entities make the data model easier to manage.</a:t>
            </a:r>
          </a:p>
        </p:txBody>
      </p:sp>
      <p:sp>
        <p:nvSpPr>
          <p:cNvPr id="27" name="Rounded Rectangle 26"/>
          <p:cNvSpPr/>
          <p:nvPr/>
        </p:nvSpPr>
        <p:spPr>
          <a:xfrm>
            <a:off x="8330183" y="3657600"/>
            <a:ext cx="3474720" cy="150876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330183" y="3657600"/>
            <a:ext cx="64008" cy="1508760"/>
          </a:xfrm>
          <a:prstGeom prst="rect">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31352" y="3822191"/>
            <a:ext cx="3090672" cy="347472"/>
          </a:xfrm>
          <a:prstGeom prst="rect">
            <a:avLst/>
          </a:prstGeom>
          <a:noFill/>
        </p:spPr>
        <p:txBody>
          <a:bodyPr wrap="square" lIns="36576" tIns="36576" rIns="36576" bIns="36576" anchor="t">
            <a:spAutoFit/>
          </a:bodyPr>
          <a:lstStyle/>
          <a:p>
            <a:pPr algn="l">
              <a:spcAft>
                <a:spcPts val="0"/>
              </a:spcAft>
            </a:pPr>
            <a:r>
              <a:rPr sz="1400" b="1">
                <a:solidFill>
                  <a:srgbClr val="F7FAFD"/>
                </a:solidFill>
                <a:latin typeface="Aptos"/>
              </a:rPr>
              <a:t>DBMS Learning</a:t>
            </a:r>
          </a:p>
        </p:txBody>
      </p:sp>
      <p:sp>
        <p:nvSpPr>
          <p:cNvPr id="30" name="TextBox 29"/>
          <p:cNvSpPr txBox="1"/>
          <p:nvPr/>
        </p:nvSpPr>
        <p:spPr>
          <a:xfrm>
            <a:off x="8531352" y="4279392"/>
            <a:ext cx="3090672" cy="75895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Demonstrates SQL and relational database concepts in practice.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7772400" cy="256032"/>
          </a:xfrm>
          <a:prstGeom prst="rect">
            <a:avLst/>
          </a:prstGeom>
          <a:noFill/>
        </p:spPr>
        <p:txBody>
          <a:bodyPr wrap="square" lIns="36576" tIns="36576" rIns="36576" bIns="36576" anchor="t">
            <a:spAutoFit/>
          </a:bodyPr>
          <a:lstStyle/>
          <a:p>
            <a:pPr algn="l">
              <a:spcAft>
                <a:spcPts val="0"/>
              </a:spcAft>
            </a:pPr>
            <a:r>
              <a:rPr sz="1000" b="1">
                <a:solidFill>
                  <a:srgbClr val="27BEAE"/>
                </a:solidFill>
                <a:latin typeface="Aptos"/>
              </a:rPr>
              <a:t>10 • IMPROVEMENTS</a:t>
            </a:r>
          </a:p>
        </p:txBody>
      </p:sp>
      <p:sp>
        <p:nvSpPr>
          <p:cNvPr id="3" name="TextBox 2"/>
          <p:cNvSpPr txBox="1"/>
          <p:nvPr/>
        </p:nvSpPr>
        <p:spPr>
          <a:xfrm>
            <a:off x="594360" y="594360"/>
            <a:ext cx="9875520" cy="502920"/>
          </a:xfrm>
          <a:prstGeom prst="rect">
            <a:avLst/>
          </a:prstGeom>
          <a:noFill/>
        </p:spPr>
        <p:txBody>
          <a:bodyPr wrap="square" lIns="36576" tIns="36576" rIns="36576" bIns="36576" anchor="t">
            <a:spAutoFit/>
          </a:bodyPr>
          <a:lstStyle/>
          <a:p>
            <a:pPr algn="l">
              <a:spcAft>
                <a:spcPts val="0"/>
              </a:spcAft>
            </a:pPr>
            <a:r>
              <a:rPr sz="2800" b="1">
                <a:solidFill>
                  <a:srgbClr val="F7FAFD"/>
                </a:solidFill>
                <a:latin typeface="Aptos"/>
              </a:rPr>
              <a:t>Future Scope</a:t>
            </a:r>
          </a:p>
        </p:txBody>
      </p:sp>
      <p:sp>
        <p:nvSpPr>
          <p:cNvPr id="4" name="TextBox 3"/>
          <p:cNvSpPr txBox="1"/>
          <p:nvPr/>
        </p:nvSpPr>
        <p:spPr>
          <a:xfrm>
            <a:off x="10972800" y="320040"/>
            <a:ext cx="640080" cy="320040"/>
          </a:xfrm>
          <a:prstGeom prst="rect">
            <a:avLst/>
          </a:prstGeom>
          <a:noFill/>
        </p:spPr>
        <p:txBody>
          <a:bodyPr wrap="square" lIns="36576" tIns="36576" rIns="36576" bIns="36576" anchor="t">
            <a:spAutoFit/>
          </a:bodyPr>
          <a:lstStyle/>
          <a:p>
            <a:pPr algn="r">
              <a:spcAft>
                <a:spcPts val="0"/>
              </a:spcAft>
            </a:pPr>
            <a:r>
              <a:rPr sz="1300" b="1">
                <a:solidFill>
                  <a:srgbClr val="B1BFD0"/>
                </a:solidFill>
                <a:latin typeface="Aptos"/>
              </a:rPr>
              <a:t>11</a:t>
            </a:r>
          </a:p>
        </p:txBody>
      </p:sp>
      <p:sp>
        <p:nvSpPr>
          <p:cNvPr id="5" name="Rectangle 4"/>
          <p:cNvSpPr/>
          <p:nvPr/>
        </p:nvSpPr>
        <p:spPr>
          <a:xfrm>
            <a:off x="594360" y="1234440"/>
            <a:ext cx="594360" cy="50292"/>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9672"/>
            <a:ext cx="7772400" cy="164592"/>
          </a:xfrm>
          <a:prstGeom prst="rect">
            <a:avLst/>
          </a:prstGeom>
          <a:noFill/>
        </p:spPr>
        <p:txBody>
          <a:bodyPr wrap="square" lIns="36576" tIns="36576" rIns="36576" bIns="36576" anchor="t">
            <a:spAutoFit/>
          </a:bodyPr>
          <a:lstStyle/>
          <a:p>
            <a:pPr algn="l">
              <a:spcAft>
                <a:spcPts val="0"/>
              </a:spcAft>
            </a:pPr>
            <a:r>
              <a:rPr sz="800" b="1">
                <a:solidFill>
                  <a:srgbClr val="B1BFD0"/>
                </a:solidFill>
                <a:latin typeface="Aptos"/>
              </a:rPr>
              <a:t>FREELANCER MARKETPLACE  •  DBMS MINI PROJECT</a:t>
            </a:r>
          </a:p>
        </p:txBody>
      </p:sp>
      <p:sp>
        <p:nvSpPr>
          <p:cNvPr id="7" name="Rounded Rectangle 6"/>
          <p:cNvSpPr/>
          <p:nvPr/>
        </p:nvSpPr>
        <p:spPr>
          <a:xfrm>
            <a:off x="685800" y="1737360"/>
            <a:ext cx="3474720" cy="14630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737360"/>
            <a:ext cx="64008" cy="1463040"/>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901952"/>
            <a:ext cx="3090672" cy="347472"/>
          </a:xfrm>
          <a:prstGeom prst="rect">
            <a:avLst/>
          </a:prstGeom>
          <a:noFill/>
        </p:spPr>
        <p:txBody>
          <a:bodyPr wrap="square" lIns="36576" tIns="36576" rIns="36576" bIns="36576" anchor="t">
            <a:spAutoFit/>
          </a:bodyPr>
          <a:lstStyle/>
          <a:p>
            <a:pPr algn="l">
              <a:spcAft>
                <a:spcPts val="0"/>
              </a:spcAft>
            </a:pPr>
            <a:r>
              <a:rPr sz="1300" b="1">
                <a:solidFill>
                  <a:srgbClr val="F7FAFD"/>
                </a:solidFill>
                <a:latin typeface="Aptos"/>
              </a:rPr>
              <a:t>SEARCH &amp; FILTERS</a:t>
            </a:r>
          </a:p>
        </p:txBody>
      </p:sp>
      <p:sp>
        <p:nvSpPr>
          <p:cNvPr id="10" name="TextBox 9"/>
          <p:cNvSpPr txBox="1"/>
          <p:nvPr/>
        </p:nvSpPr>
        <p:spPr>
          <a:xfrm>
            <a:off x="886968" y="2359152"/>
            <a:ext cx="3090672" cy="71323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Search projects by skill, budget or category.</a:t>
            </a:r>
          </a:p>
        </p:txBody>
      </p:sp>
      <p:sp>
        <p:nvSpPr>
          <p:cNvPr id="11" name="Rounded Rectangle 10"/>
          <p:cNvSpPr/>
          <p:nvPr/>
        </p:nvSpPr>
        <p:spPr>
          <a:xfrm>
            <a:off x="4507992" y="1737360"/>
            <a:ext cx="3474720" cy="14630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07992" y="1737360"/>
            <a:ext cx="64008" cy="1463040"/>
          </a:xfrm>
          <a:prstGeom prst="rect">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9159" y="1901952"/>
            <a:ext cx="3090672" cy="347472"/>
          </a:xfrm>
          <a:prstGeom prst="rect">
            <a:avLst/>
          </a:prstGeom>
          <a:noFill/>
        </p:spPr>
        <p:txBody>
          <a:bodyPr wrap="square" lIns="36576" tIns="36576" rIns="36576" bIns="36576" anchor="t">
            <a:spAutoFit/>
          </a:bodyPr>
          <a:lstStyle/>
          <a:p>
            <a:pPr algn="l">
              <a:spcAft>
                <a:spcPts val="0"/>
              </a:spcAft>
            </a:pPr>
            <a:r>
              <a:rPr sz="1300" b="1">
                <a:solidFill>
                  <a:srgbClr val="F7FAFD"/>
                </a:solidFill>
                <a:latin typeface="Aptos"/>
              </a:rPr>
              <a:t>MESSAGING</a:t>
            </a:r>
          </a:p>
        </p:txBody>
      </p:sp>
      <p:sp>
        <p:nvSpPr>
          <p:cNvPr id="14" name="TextBox 13"/>
          <p:cNvSpPr txBox="1"/>
          <p:nvPr/>
        </p:nvSpPr>
        <p:spPr>
          <a:xfrm>
            <a:off x="4709159" y="2359152"/>
            <a:ext cx="3090672" cy="71323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Enable client–freelancer communication.</a:t>
            </a:r>
          </a:p>
        </p:txBody>
      </p:sp>
      <p:sp>
        <p:nvSpPr>
          <p:cNvPr id="15" name="Rounded Rectangle 14"/>
          <p:cNvSpPr/>
          <p:nvPr/>
        </p:nvSpPr>
        <p:spPr>
          <a:xfrm>
            <a:off x="8330183" y="1737360"/>
            <a:ext cx="3474720" cy="14630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330183" y="1737360"/>
            <a:ext cx="64008" cy="1463040"/>
          </a:xfrm>
          <a:prstGeom prst="rect">
            <a:avLst/>
          </a:prstGeom>
          <a:solidFill>
            <a:srgbClr val="A2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31352" y="1901952"/>
            <a:ext cx="3090672" cy="347472"/>
          </a:xfrm>
          <a:prstGeom prst="rect">
            <a:avLst/>
          </a:prstGeom>
          <a:noFill/>
        </p:spPr>
        <p:txBody>
          <a:bodyPr wrap="square" lIns="36576" tIns="36576" rIns="36576" bIns="36576" anchor="t">
            <a:spAutoFit/>
          </a:bodyPr>
          <a:lstStyle/>
          <a:p>
            <a:pPr algn="l">
              <a:spcAft>
                <a:spcPts val="0"/>
              </a:spcAft>
            </a:pPr>
            <a:r>
              <a:rPr sz="1300" b="1">
                <a:solidFill>
                  <a:srgbClr val="F7FAFD"/>
                </a:solidFill>
                <a:latin typeface="Aptos"/>
              </a:rPr>
              <a:t>SECURE PAYMENTS</a:t>
            </a:r>
          </a:p>
        </p:txBody>
      </p:sp>
      <p:sp>
        <p:nvSpPr>
          <p:cNvPr id="18" name="TextBox 17"/>
          <p:cNvSpPr txBox="1"/>
          <p:nvPr/>
        </p:nvSpPr>
        <p:spPr>
          <a:xfrm>
            <a:off x="8531352" y="2359152"/>
            <a:ext cx="3090672" cy="71323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Integrate a payment gateway and transaction status.</a:t>
            </a:r>
          </a:p>
        </p:txBody>
      </p:sp>
      <p:sp>
        <p:nvSpPr>
          <p:cNvPr id="19" name="Rounded Rectangle 18"/>
          <p:cNvSpPr/>
          <p:nvPr/>
        </p:nvSpPr>
        <p:spPr>
          <a:xfrm>
            <a:off x="685800" y="3657600"/>
            <a:ext cx="3474720" cy="14630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85800" y="3657600"/>
            <a:ext cx="64008" cy="1463040"/>
          </a:xfrm>
          <a:prstGeom prst="rect">
            <a:avLst/>
          </a:prstGeom>
          <a:solidFill>
            <a:srgbClr val="6CDC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968" y="3822191"/>
            <a:ext cx="3090672" cy="347472"/>
          </a:xfrm>
          <a:prstGeom prst="rect">
            <a:avLst/>
          </a:prstGeom>
          <a:noFill/>
        </p:spPr>
        <p:txBody>
          <a:bodyPr wrap="square" lIns="36576" tIns="36576" rIns="36576" bIns="36576" anchor="t">
            <a:spAutoFit/>
          </a:bodyPr>
          <a:lstStyle/>
          <a:p>
            <a:pPr algn="l">
              <a:spcAft>
                <a:spcPts val="0"/>
              </a:spcAft>
            </a:pPr>
            <a:r>
              <a:rPr sz="1300" b="1">
                <a:solidFill>
                  <a:srgbClr val="F7FAFD"/>
                </a:solidFill>
                <a:latin typeface="Aptos"/>
              </a:rPr>
              <a:t>NOTIFICATIONS</a:t>
            </a:r>
          </a:p>
        </p:txBody>
      </p:sp>
      <p:sp>
        <p:nvSpPr>
          <p:cNvPr id="22" name="TextBox 21"/>
          <p:cNvSpPr txBox="1"/>
          <p:nvPr/>
        </p:nvSpPr>
        <p:spPr>
          <a:xfrm>
            <a:off x="886968" y="4279392"/>
            <a:ext cx="3090672" cy="71323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Notify users about bids and project updates.</a:t>
            </a:r>
          </a:p>
        </p:txBody>
      </p:sp>
      <p:sp>
        <p:nvSpPr>
          <p:cNvPr id="23" name="Rounded Rectangle 22"/>
          <p:cNvSpPr/>
          <p:nvPr/>
        </p:nvSpPr>
        <p:spPr>
          <a:xfrm>
            <a:off x="4507992" y="3657600"/>
            <a:ext cx="3474720" cy="14630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07992" y="3657600"/>
            <a:ext cx="64008" cy="1463040"/>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09159" y="3822191"/>
            <a:ext cx="3090672" cy="347472"/>
          </a:xfrm>
          <a:prstGeom prst="rect">
            <a:avLst/>
          </a:prstGeom>
          <a:noFill/>
        </p:spPr>
        <p:txBody>
          <a:bodyPr wrap="square" lIns="36576" tIns="36576" rIns="36576" bIns="36576" anchor="t">
            <a:spAutoFit/>
          </a:bodyPr>
          <a:lstStyle/>
          <a:p>
            <a:pPr algn="l">
              <a:spcAft>
                <a:spcPts val="0"/>
              </a:spcAft>
            </a:pPr>
            <a:r>
              <a:rPr sz="1300" b="1">
                <a:solidFill>
                  <a:srgbClr val="F7FAFD"/>
                </a:solidFill>
                <a:latin typeface="Aptos"/>
              </a:rPr>
              <a:t>DASHBOARD</a:t>
            </a:r>
          </a:p>
        </p:txBody>
      </p:sp>
      <p:sp>
        <p:nvSpPr>
          <p:cNvPr id="26" name="TextBox 25"/>
          <p:cNvSpPr txBox="1"/>
          <p:nvPr/>
        </p:nvSpPr>
        <p:spPr>
          <a:xfrm>
            <a:off x="4709159" y="4279392"/>
            <a:ext cx="3090672" cy="71323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Show project, bid and payment summaries.</a:t>
            </a:r>
          </a:p>
        </p:txBody>
      </p:sp>
      <p:sp>
        <p:nvSpPr>
          <p:cNvPr id="27" name="Rounded Rectangle 26"/>
          <p:cNvSpPr/>
          <p:nvPr/>
        </p:nvSpPr>
        <p:spPr>
          <a:xfrm>
            <a:off x="8330183" y="3657600"/>
            <a:ext cx="3474720" cy="1463040"/>
          </a:xfrm>
          <a:prstGeom prst="roundRect">
            <a:avLst/>
          </a:prstGeom>
          <a:solidFill>
            <a:srgbClr val="1D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330183" y="3657600"/>
            <a:ext cx="64008" cy="1463040"/>
          </a:xfrm>
          <a:prstGeom prst="rect">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31352" y="3822191"/>
            <a:ext cx="3090672" cy="347472"/>
          </a:xfrm>
          <a:prstGeom prst="rect">
            <a:avLst/>
          </a:prstGeom>
          <a:noFill/>
        </p:spPr>
        <p:txBody>
          <a:bodyPr wrap="square" lIns="36576" tIns="36576" rIns="36576" bIns="36576" anchor="t">
            <a:spAutoFit/>
          </a:bodyPr>
          <a:lstStyle/>
          <a:p>
            <a:pPr algn="l">
              <a:spcAft>
                <a:spcPts val="0"/>
              </a:spcAft>
            </a:pPr>
            <a:r>
              <a:rPr sz="1300" b="1">
                <a:solidFill>
                  <a:srgbClr val="F7FAFD"/>
                </a:solidFill>
                <a:latin typeface="Aptos"/>
              </a:rPr>
              <a:t>AUTHORIZATION</a:t>
            </a:r>
          </a:p>
        </p:txBody>
      </p:sp>
      <p:sp>
        <p:nvSpPr>
          <p:cNvPr id="30" name="TextBox 29"/>
          <p:cNvSpPr txBox="1"/>
          <p:nvPr/>
        </p:nvSpPr>
        <p:spPr>
          <a:xfrm>
            <a:off x="8531352" y="4279392"/>
            <a:ext cx="3090672" cy="713232"/>
          </a:xfrm>
          <a:prstGeom prst="rect">
            <a:avLst/>
          </a:prstGeom>
          <a:noFill/>
        </p:spPr>
        <p:txBody>
          <a:bodyPr wrap="square" lIns="36576" tIns="36576" rIns="36576" bIns="36576" anchor="t">
            <a:spAutoFit/>
          </a:bodyPr>
          <a:lstStyle/>
          <a:p>
            <a:pPr algn="l">
              <a:spcAft>
                <a:spcPts val="0"/>
              </a:spcAft>
            </a:pPr>
            <a:r>
              <a:rPr sz="1100" b="0">
                <a:solidFill>
                  <a:srgbClr val="B1BFD0"/>
                </a:solidFill>
                <a:latin typeface="Aptos"/>
              </a:rPr>
              <a:t>Add role-based access and stronger validation.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1C30"/>
        </a:solidFill>
        <a:effectLst/>
      </p:bgPr>
    </p:bg>
    <p:spTree>
      <p:nvGrpSpPr>
        <p:cNvPr id="1" name=""/>
        <p:cNvGrpSpPr/>
        <p:nvPr/>
      </p:nvGrpSpPr>
      <p:grpSpPr>
        <a:xfrm>
          <a:off x="0" y="0"/>
          <a:ext cx="0" cy="0"/>
          <a:chOff x="0" y="0"/>
          <a:chExt cx="0" cy="0"/>
        </a:xfrm>
      </p:grpSpPr>
      <p:sp>
        <p:nvSpPr>
          <p:cNvPr id="2" name="TextBox 1"/>
          <p:cNvSpPr txBox="1"/>
          <p:nvPr/>
        </p:nvSpPr>
        <p:spPr>
          <a:xfrm>
            <a:off x="731520" y="685800"/>
            <a:ext cx="2286000" cy="274320"/>
          </a:xfrm>
          <a:prstGeom prst="rect">
            <a:avLst/>
          </a:prstGeom>
          <a:noFill/>
        </p:spPr>
        <p:txBody>
          <a:bodyPr wrap="square" lIns="36576" tIns="36576" rIns="36576" bIns="36576" anchor="t">
            <a:spAutoFit/>
          </a:bodyPr>
          <a:lstStyle/>
          <a:p>
            <a:pPr algn="l">
              <a:spcAft>
                <a:spcPts val="0"/>
              </a:spcAft>
            </a:pPr>
            <a:r>
              <a:rPr sz="1100" b="1">
                <a:solidFill>
                  <a:srgbClr val="27BEAE"/>
                </a:solidFill>
                <a:latin typeface="Aptos"/>
              </a:rPr>
              <a:t>CONCLUSION</a:t>
            </a:r>
          </a:p>
        </p:txBody>
      </p:sp>
      <p:sp>
        <p:nvSpPr>
          <p:cNvPr id="3" name="TextBox 2"/>
          <p:cNvSpPr txBox="1"/>
          <p:nvPr/>
        </p:nvSpPr>
        <p:spPr>
          <a:xfrm>
            <a:off x="731520" y="1188720"/>
            <a:ext cx="9875520" cy="594360"/>
          </a:xfrm>
          <a:prstGeom prst="rect">
            <a:avLst/>
          </a:prstGeom>
          <a:noFill/>
        </p:spPr>
        <p:txBody>
          <a:bodyPr wrap="square" lIns="36576" tIns="36576" rIns="36576" bIns="36576" anchor="t">
            <a:spAutoFit/>
          </a:bodyPr>
          <a:lstStyle/>
          <a:p>
            <a:pPr algn="l">
              <a:spcAft>
                <a:spcPts val="0"/>
              </a:spcAft>
            </a:pPr>
            <a:r>
              <a:rPr sz="2900" b="1">
                <a:solidFill>
                  <a:srgbClr val="F7FAFD"/>
                </a:solidFill>
                <a:latin typeface="Aptos"/>
              </a:rPr>
              <a:t>A structured database for a real-world workflow</a:t>
            </a:r>
          </a:p>
        </p:txBody>
      </p:sp>
      <p:sp>
        <p:nvSpPr>
          <p:cNvPr id="4" name="TextBox 3"/>
          <p:cNvSpPr txBox="1"/>
          <p:nvPr/>
        </p:nvSpPr>
        <p:spPr>
          <a:xfrm>
            <a:off x="777240" y="2057400"/>
            <a:ext cx="9875520" cy="1417320"/>
          </a:xfrm>
          <a:prstGeom prst="rect">
            <a:avLst/>
          </a:prstGeom>
          <a:noFill/>
        </p:spPr>
        <p:txBody>
          <a:bodyPr wrap="square" lIns="36576" tIns="36576" rIns="36576" bIns="36576" anchor="t">
            <a:spAutoFit/>
          </a:bodyPr>
          <a:lstStyle/>
          <a:p>
            <a:pPr algn="l">
              <a:spcAft>
                <a:spcPts val="0"/>
              </a:spcAft>
            </a:pPr>
            <a:r>
              <a:rPr sz="1800" b="0">
                <a:solidFill>
                  <a:srgbClr val="B1BFD0"/>
                </a:solidFill>
                <a:latin typeface="Aptos"/>
              </a:rPr>
              <a:t>The Freelancer Marketplace mini project demonstrates how PostgreSQL and relational database concepts can organize information about users, projects, bids and supporting records. With suitable keys, relationships and SQL operations, the system provides a foundation for managing marketplace data consistently and extending the application with additional features.</a:t>
            </a:r>
          </a:p>
        </p:txBody>
      </p:sp>
      <p:sp>
        <p:nvSpPr>
          <p:cNvPr id="5" name="Rectangle 4"/>
          <p:cNvSpPr/>
          <p:nvPr/>
        </p:nvSpPr>
        <p:spPr>
          <a:xfrm>
            <a:off x="777240" y="4069080"/>
            <a:ext cx="1005840" cy="64008"/>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4572000"/>
            <a:ext cx="4572000" cy="594360"/>
          </a:xfrm>
          <a:prstGeom prst="rect">
            <a:avLst/>
          </a:prstGeom>
          <a:noFill/>
        </p:spPr>
        <p:txBody>
          <a:bodyPr wrap="square" lIns="36576" tIns="36576" rIns="36576" bIns="36576" anchor="t">
            <a:spAutoFit/>
          </a:bodyPr>
          <a:lstStyle/>
          <a:p>
            <a:pPr algn="l">
              <a:spcAft>
                <a:spcPts val="0"/>
              </a:spcAft>
            </a:pPr>
            <a:r>
              <a:rPr sz="3000" b="1">
                <a:solidFill>
                  <a:srgbClr val="27BEAE"/>
                </a:solidFill>
                <a:latin typeface="Aptos"/>
              </a:rPr>
              <a:t>THANK YOU</a:t>
            </a:r>
          </a:p>
        </p:txBody>
      </p:sp>
      <p:sp>
        <p:nvSpPr>
          <p:cNvPr id="7" name="TextBox 6"/>
          <p:cNvSpPr txBox="1"/>
          <p:nvPr/>
        </p:nvSpPr>
        <p:spPr>
          <a:xfrm>
            <a:off x="777240" y="5257800"/>
            <a:ext cx="4572000" cy="320040"/>
          </a:xfrm>
          <a:prstGeom prst="rect">
            <a:avLst/>
          </a:prstGeom>
          <a:noFill/>
        </p:spPr>
        <p:txBody>
          <a:bodyPr wrap="square" lIns="36576" tIns="36576" rIns="36576" bIns="36576" anchor="t">
            <a:spAutoFit/>
          </a:bodyPr>
          <a:lstStyle/>
          <a:p>
            <a:pPr algn="l">
              <a:spcAft>
                <a:spcPts val="0"/>
              </a:spcAft>
            </a:pPr>
            <a:r>
              <a:rPr sz="1600" b="0">
                <a:solidFill>
                  <a:srgbClr val="F7FAFD"/>
                </a:solidFill>
                <a:latin typeface="Aptos"/>
              </a:rPr>
              <a:t>Questions?</a:t>
            </a:r>
          </a:p>
        </p:txBody>
      </p:sp>
      <p:sp>
        <p:nvSpPr>
          <p:cNvPr id="8" name="TextBox 7"/>
          <p:cNvSpPr txBox="1"/>
          <p:nvPr/>
        </p:nvSpPr>
        <p:spPr>
          <a:xfrm>
            <a:off x="777240" y="6263640"/>
            <a:ext cx="5486400" cy="228600"/>
          </a:xfrm>
          <a:prstGeom prst="rect">
            <a:avLst/>
          </a:prstGeom>
          <a:noFill/>
        </p:spPr>
        <p:txBody>
          <a:bodyPr wrap="square" lIns="36576" tIns="36576" rIns="36576" bIns="36576" anchor="t">
            <a:spAutoFit/>
          </a:bodyPr>
          <a:lstStyle/>
          <a:p>
            <a:pPr algn="l">
              <a:spcAft>
                <a:spcPts val="0"/>
              </a:spcAft>
            </a:pPr>
            <a:r>
              <a:rPr sz="900" b="1">
                <a:solidFill>
                  <a:srgbClr val="B1BFD0"/>
                </a:solidFill>
                <a:latin typeface="Aptos"/>
              </a:rPr>
              <a:t>FREELANCER MARKETPLACE  •  DBMS MINI PROJECT</a:t>
            </a:r>
          </a:p>
        </p:txBody>
      </p:sp>
      <p:sp>
        <p:nvSpPr>
          <p:cNvPr id="9" name="Oval 8"/>
          <p:cNvSpPr/>
          <p:nvPr/>
        </p:nvSpPr>
        <p:spPr>
          <a:xfrm>
            <a:off x="8778240" y="3246120"/>
            <a:ext cx="1280160" cy="1280160"/>
          </a:xfrm>
          <a:prstGeom prst="ellipse">
            <a:avLst/>
          </a:prstGeom>
          <a:solidFill>
            <a:srgbClr val="17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236418" y="3063240"/>
            <a:ext cx="572949" cy="685800"/>
          </a:xfrm>
          <a:prstGeom prst="ellipse">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Oval 10"/>
          <p:cNvSpPr/>
          <p:nvPr/>
        </p:nvSpPr>
        <p:spPr>
          <a:xfrm>
            <a:off x="10195560" y="3977639"/>
            <a:ext cx="411480" cy="411480"/>
          </a:xfrm>
          <a:prstGeom prst="ellipse">
            <a:avLst/>
          </a:prstGeom>
          <a:solidFill>
            <a:srgbClr val="FFB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Freelancer Marketplace - DBMS Mini Project</dc:title>
  <dc:subject>DBMS project presentation based on the supplied FoodGo PPT format</dc:subject>
  <dc:creator>OpenAI</dc:creator>
  <cp:keywords>Freelancer Marketplace, DBMS, PostgreSQL, SQL</cp:keywords>
  <dc:description>generated using python-pptx</dc:description>
  <cp:lastModifiedBy>NADAR ARAVIND MAYAVI</cp:lastModifiedBy>
  <cp:revision>2</cp:revision>
  <dcterms:created xsi:type="dcterms:W3CDTF">2013-01-27T09:14:16Z</dcterms:created>
  <dcterms:modified xsi:type="dcterms:W3CDTF">2026-10-11T14:25:13Z</dcterms:modified>
  <cp:category/>
</cp:coreProperties>
</file>